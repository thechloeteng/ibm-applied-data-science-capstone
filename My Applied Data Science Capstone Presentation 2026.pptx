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</p:sldIdLst>
  <p:sldSz cy="5143500" cx="9144000"/>
  <p:notesSz cx="6858000" cy="9144000"/>
  <p:embeddedFontLst>
    <p:embeddedFont>
      <p:font typeface="Raleway"/>
      <p:regular r:id="rId61"/>
      <p:bold r:id="rId62"/>
      <p:italic r:id="rId63"/>
      <p:boldItalic r:id="rId64"/>
    </p:embeddedFont>
    <p:embeddedFont>
      <p:font typeface="Raleway SemiBold"/>
      <p:regular r:id="rId65"/>
      <p:bold r:id="rId66"/>
      <p:italic r:id="rId67"/>
      <p:boldItalic r:id="rId68"/>
    </p:embeddedFont>
    <p:embeddedFont>
      <p:font typeface="Montserrat"/>
      <p:regular r:id="rId69"/>
      <p:bold r:id="rId70"/>
      <p:italic r:id="rId71"/>
      <p:boldItalic r:id="rId72"/>
    </p:embeddedFont>
    <p:embeddedFont>
      <p:font typeface="Raleway Medium"/>
      <p:regular r:id="rId73"/>
      <p:bold r:id="rId74"/>
      <p:italic r:id="rId75"/>
      <p:boldItalic r:id="rId7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07">
          <p15:clr>
            <a:srgbClr val="FF0000"/>
          </p15:clr>
        </p15:guide>
        <p15:guide id="2" pos="204">
          <p15:clr>
            <a:srgbClr val="9AA0A6"/>
          </p15:clr>
        </p15:guide>
        <p15:guide id="3" pos="5556">
          <p15:clr>
            <a:srgbClr val="999999"/>
          </p15:clr>
        </p15:guide>
        <p15:guide id="4" orient="horz" pos="2733">
          <p15:clr>
            <a:srgbClr val="FF0000"/>
          </p15:clr>
        </p15:guide>
        <p15:guide id="5" orient="horz" pos="737">
          <p15:clr>
            <a:srgbClr val="9AA0A6"/>
          </p15:clr>
        </p15:guide>
        <p15:guide id="6" orient="horz" pos="2279">
          <p15:clr>
            <a:srgbClr val="9AA0A6"/>
          </p15:clr>
        </p15:guide>
        <p15:guide id="7" pos="2880">
          <p15:clr>
            <a:srgbClr val="FF0000"/>
          </p15:clr>
        </p15:guide>
        <p15:guide id="8" orient="horz" pos="2817">
          <p15:clr>
            <a:srgbClr val="9AA0A6"/>
          </p15:clr>
        </p15:guide>
        <p15:guide id="9" orient="horz" pos="415">
          <p15:clr>
            <a:srgbClr val="9AA0A6"/>
          </p15:clr>
        </p15:guide>
        <p15:guide id="10" pos="510">
          <p15:clr>
            <a:srgbClr val="FF0000"/>
          </p15:clr>
        </p15:guide>
        <p15:guide id="11" pos="5250">
          <p15:clr>
            <a:srgbClr val="FF0000"/>
          </p15:clr>
        </p15:guide>
        <p15:guide id="12" orient="horz" pos="1023">
          <p15:clr>
            <a:srgbClr val="9AA0A6"/>
          </p15:clr>
        </p15:guide>
        <p15:guide id="13" orient="horz" pos="1482">
          <p15:clr>
            <a:srgbClr val="9AA0A6"/>
          </p15:clr>
        </p15:guide>
        <p15:guide id="14" orient="horz" pos="1224">
          <p15:clr>
            <a:srgbClr val="9AA0A6"/>
          </p15:clr>
        </p15:guide>
        <p15:guide id="15" orient="horz" pos="1169">
          <p15:clr>
            <a:srgbClr val="9AA0A6"/>
          </p15:clr>
        </p15:guide>
        <p15:guide id="16" orient="horz" pos="2627">
          <p15:clr>
            <a:srgbClr val="9AA0A6"/>
          </p15:clr>
        </p15:guide>
        <p15:guide id="17" pos="3158">
          <p15:clr>
            <a:srgbClr val="9AA0A6"/>
          </p15:clr>
        </p15:guide>
        <p15:guide id="18" pos="5191">
          <p15:clr>
            <a:srgbClr val="FF0000"/>
          </p15:clr>
        </p15:guide>
        <p15:guide id="19" pos="569">
          <p15:clr>
            <a:srgbClr val="FF0000"/>
          </p15:clr>
        </p15:guide>
        <p15:guide id="20" pos="2968">
          <p15:clr>
            <a:srgbClr val="9AA0A6"/>
          </p15:clr>
        </p15:guide>
        <p15:guide id="21" orient="horz" pos="1315">
          <p15:clr>
            <a:srgbClr val="9AA0A6"/>
          </p15:clr>
        </p15:guide>
        <p15:guide id="22" orient="horz" pos="1399">
          <p15:clr>
            <a:srgbClr val="9AA0A6"/>
          </p15:clr>
        </p15:guide>
        <p15:guide id="23" orient="horz" pos="1620">
          <p15:clr>
            <a:srgbClr val="9AA0A6"/>
          </p15:clr>
        </p15:guide>
        <p15:guide id="24" pos="315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07" orient="horz"/>
        <p:guide pos="204"/>
        <p:guide pos="5556"/>
        <p:guide pos="2733" orient="horz"/>
        <p:guide pos="737" orient="horz"/>
        <p:guide pos="2279" orient="horz"/>
        <p:guide pos="2880"/>
        <p:guide pos="2817" orient="horz"/>
        <p:guide pos="415" orient="horz"/>
        <p:guide pos="510"/>
        <p:guide pos="5250"/>
        <p:guide pos="1023" orient="horz"/>
        <p:guide pos="1482" orient="horz"/>
        <p:guide pos="1224" orient="horz"/>
        <p:guide pos="1169" orient="horz"/>
        <p:guide pos="2627" orient="horz"/>
        <p:guide pos="3158"/>
        <p:guide pos="5191"/>
        <p:guide pos="569"/>
        <p:guide pos="2968"/>
        <p:guide pos="1315" orient="horz"/>
        <p:guide pos="1399" orient="horz"/>
        <p:guide pos="1620" orient="horz"/>
        <p:guide pos="315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RalewayMedium-regular.fntdata"/><Relationship Id="rId72" Type="http://schemas.openxmlformats.org/officeDocument/2006/relationships/font" Target="fonts/Montserrat-boldItalic.fntdata"/><Relationship Id="rId31" Type="http://schemas.openxmlformats.org/officeDocument/2006/relationships/slide" Target="slides/slide26.xml"/><Relationship Id="rId75" Type="http://schemas.openxmlformats.org/officeDocument/2006/relationships/font" Target="fonts/RalewayMedium-italic.fntdata"/><Relationship Id="rId30" Type="http://schemas.openxmlformats.org/officeDocument/2006/relationships/slide" Target="slides/slide25.xml"/><Relationship Id="rId74" Type="http://schemas.openxmlformats.org/officeDocument/2006/relationships/font" Target="fonts/RalewayMedium-bold.fntdata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76" Type="http://schemas.openxmlformats.org/officeDocument/2006/relationships/font" Target="fonts/RalewayMedium-boldItalic.fntdata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font" Target="fonts/Montserrat-italic.fntdata"/><Relationship Id="rId70" Type="http://schemas.openxmlformats.org/officeDocument/2006/relationships/font" Target="fonts/Montserrat-bold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Raleway-bold.fntdata"/><Relationship Id="rId61" Type="http://schemas.openxmlformats.org/officeDocument/2006/relationships/font" Target="fonts/Raleway-regular.fntdata"/><Relationship Id="rId20" Type="http://schemas.openxmlformats.org/officeDocument/2006/relationships/slide" Target="slides/slide15.xml"/><Relationship Id="rId64" Type="http://schemas.openxmlformats.org/officeDocument/2006/relationships/font" Target="fonts/Raleway-boldItalic.fntdata"/><Relationship Id="rId63" Type="http://schemas.openxmlformats.org/officeDocument/2006/relationships/font" Target="fonts/Raleway-italic.fntdata"/><Relationship Id="rId22" Type="http://schemas.openxmlformats.org/officeDocument/2006/relationships/slide" Target="slides/slide17.xml"/><Relationship Id="rId66" Type="http://schemas.openxmlformats.org/officeDocument/2006/relationships/font" Target="fonts/RalewaySemiBold-bold.fntdata"/><Relationship Id="rId21" Type="http://schemas.openxmlformats.org/officeDocument/2006/relationships/slide" Target="slides/slide16.xml"/><Relationship Id="rId65" Type="http://schemas.openxmlformats.org/officeDocument/2006/relationships/font" Target="fonts/RalewaySemiBold-regular.fntdata"/><Relationship Id="rId24" Type="http://schemas.openxmlformats.org/officeDocument/2006/relationships/slide" Target="slides/slide19.xml"/><Relationship Id="rId68" Type="http://schemas.openxmlformats.org/officeDocument/2006/relationships/font" Target="fonts/RalewaySemiBold-boldItalic.fntdata"/><Relationship Id="rId23" Type="http://schemas.openxmlformats.org/officeDocument/2006/relationships/slide" Target="slides/slide18.xml"/><Relationship Id="rId67" Type="http://schemas.openxmlformats.org/officeDocument/2006/relationships/font" Target="fonts/RalewaySemiBold-italic.fntdata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Montserrat-regular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4d50d9b82_0_8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114d50d9b82_0_8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08daa3362e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08daa3362e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150da645dc_0_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150da645dc_0_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92929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ac02a3539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fac02a3539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92929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ac02a3539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fac02a3539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92929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8561319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f8561319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92929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8561319bd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f8561319b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92929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acc941ca4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facc941ca4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92929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f842ff6f1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f842ff6f1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92929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fad2287fc9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fad2287fc9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92929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fad2287fc9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fad2287fc9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92929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fad2287fc9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fad2287fc9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92929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fad2287fc9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fad2287fc9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92929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fad2287fc9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fad2287fc9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f8561319bd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f8561319bd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f8561319bd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f8561319bd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f8561319bd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f8561319bd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f8561319bd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f8561319bd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f8561319bd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f8561319bd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f8561319bd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f8561319bd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f8561319bd_0_3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f8561319bd_0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f8561319bd_0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f8561319bd_0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f8561319bd_0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f8561319bd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f8561319bd_0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f8561319bd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f8561319bd_0_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f8561319bd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f8561319bd_0_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3f8561319bd_0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f8561319bd_0_5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3f8561319bd_0_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f8561319bd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3f8561319bd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f8561319bd_0_6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3f8561319bd_0_6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f8561319bd_0_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3f8561319bd_0_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f8561319bd_0_7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3f8561319bd_0_7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f8561319bd_0_7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3f8561319bd_0_7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3f8561319bd_0_7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9" name="Google Shape;699;g3f8561319bd_0_7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f8561319bd_0_7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1" name="Google Shape;721;g3f8561319bd_0_7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3f8561319bd_0_8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g3f8561319bd_0_8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3fae3b6407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5" name="Google Shape;765;g3fae3b6407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3fae3b64072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3fae3b64072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3fae3b64072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9" name="Google Shape;809;g3fae3b64072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3f8561319bd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3f8561319bd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fae3b64072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9" name="Google Shape;849;g3fae3b64072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The launch outcome map shows that launch success varies by site, with KSC LC-39A appearing more successful than the CCAFS launch sites in the displayed data.</a:t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3f87bbf1ef2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3f87bbf1ef2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The color-coded Folium map makes it easy to compare launch outcomes by site. In the displayed map, KSC LC-39A appears to have stronger launch success performance, while CCAFS LC-40 and CCAFS SLC-40 show more failed launches. KSC LC-39A appears to perform better, while the CCAFS sites show more failed launches in the displayed data.</a:t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3f87bbf1ef2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9" name="Google Shape;899;g3f87bbf1ef2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3f8561319bd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0" name="Google Shape;920;g3f8561319bd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3f87bbf1ef2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3f87bbf1ef2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3f87bbf1ef2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Google Shape;957;g3f87bbf1ef2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3f87bbf1ef2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5" name="Google Shape;975;g3f87bbf1ef2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g3f87bbf1ef2_0_3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8" name="Google Shape;998;g3f87bbf1ef2_0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f8561319bd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1" name="Google Shape;1021;g3f8561319bd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g3f891caf1f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9" name="Google Shape;1039;g3f891caf1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3f891caf1f2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g3f891caf1f2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g3faf090dd09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8" name="Google Shape;1088;g3faf090dd09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g3f89460d260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1" name="Google Shape;1111;g3f89460d260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g3f89460d260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4" name="Google Shape;1134;g3f89460d260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g3f89460d26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1" name="Google Shape;1151;g3f89460d26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hyperlink" Target="https://github.com/thechloeteng/ibm-applied-data-science-capstone/blob/main/01%20-%20Data%20Collection/01%20-%20Data%20Collection%20-%20API.ipynb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hyperlink" Target="https://github.com/thechloeteng/ibm-applied-data-science-capstone/blob/main/01%20-%20Data%20Collection/01%20-%20Data%20Collection%20-%20Web%20Scraping.ipynb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hyperlink" Target="https://github.com/thechloeteng/ibm-applied-data-science-capstone/blob/main/02%20-%20Data%20Wrangling/02%20-%20Data%20Wrangling.ipynb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24.png"/><Relationship Id="rId6" Type="http://schemas.openxmlformats.org/officeDocument/2006/relationships/hyperlink" Target="https://github.com/thechloeteng/ibm-applied-data-science-capstone/blob/main/03%20-%20Exploratory%20Data%20Analysis%20(EDA)/03%20-%20Exploratory%20Data%20Analysis%20(EDA)%20-%20Data%20Visualization.ipynb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ithub.com/thechloeteng/ibm-applied-data-science-capstone/blob/main/03%20-%20Exploratory%20Data%20Analysis%20(EDA)/03%20-%20Exploratory%20Data%20Analysis%20(EDA)%20-%20SQL.ipynb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github.com/thechloeteng/ibm-applied-data-science-capstone/blob/main/04%20-%20Interactive%20Visual%20Analytics%20and%20Dashboard/04%20-%20Interactive%20Visual%20Analytics%20using%20Folium.ipynb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ithub.com/thechloeteng/ibm-applied-data-science-capstone/blob/main/04%20-%20Interactive%20Visual%20Analytics%20and%20Dashboard/spacex-dash-app.py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github.com/thechloeteng/ibm-applied-data-science-capstone/blob/main/04%20-%20Interactive%20Visual%20Analytics%20and%20Dashboard/spacex-dash-app.py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hyperlink" Target="https://github.com/thechloeteng/ibm-applied-data-science-capstone/blob/main/05%20-%20Predictive%20Analysis%20(Classification)/05%20-%20Predictive%20Analysis%20(Classification).ipynb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0.png"/><Relationship Id="rId4" Type="http://schemas.openxmlformats.org/officeDocument/2006/relationships/image" Target="../media/image1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Relationship Id="rId4" Type="http://schemas.openxmlformats.org/officeDocument/2006/relationships/image" Target="../media/image3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8.png"/><Relationship Id="rId4" Type="http://schemas.openxmlformats.org/officeDocument/2006/relationships/image" Target="../media/image2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4.png"/><Relationship Id="rId4" Type="http://schemas.openxmlformats.org/officeDocument/2006/relationships/image" Target="../media/image5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0.png"/><Relationship Id="rId4" Type="http://schemas.openxmlformats.org/officeDocument/2006/relationships/image" Target="../media/image4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6.png"/><Relationship Id="rId4" Type="http://schemas.openxmlformats.org/officeDocument/2006/relationships/image" Target="../media/image3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7.png"/><Relationship Id="rId4" Type="http://schemas.openxmlformats.org/officeDocument/2006/relationships/image" Target="../media/image3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3.png"/><Relationship Id="rId4" Type="http://schemas.openxmlformats.org/officeDocument/2006/relationships/image" Target="../media/image3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1.png"/><Relationship Id="rId4" Type="http://schemas.openxmlformats.org/officeDocument/2006/relationships/image" Target="../media/image3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5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7.png"/><Relationship Id="rId4" Type="http://schemas.openxmlformats.org/officeDocument/2006/relationships/image" Target="../media/image51.png"/><Relationship Id="rId5" Type="http://schemas.openxmlformats.org/officeDocument/2006/relationships/image" Target="../media/image28.png"/><Relationship Id="rId6" Type="http://schemas.openxmlformats.org/officeDocument/2006/relationships/image" Target="../media/image4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3.png"/><Relationship Id="rId4" Type="http://schemas.openxmlformats.org/officeDocument/2006/relationships/image" Target="../media/image38.png"/><Relationship Id="rId5" Type="http://schemas.openxmlformats.org/officeDocument/2006/relationships/image" Target="../media/image4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9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8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9.png"/><Relationship Id="rId4" Type="http://schemas.openxmlformats.org/officeDocument/2006/relationships/image" Target="../media/image56.png"/><Relationship Id="rId5" Type="http://schemas.openxmlformats.org/officeDocument/2006/relationships/image" Target="../media/image50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9.png"/><Relationship Id="rId4" Type="http://schemas.openxmlformats.org/officeDocument/2006/relationships/image" Target="../media/image56.png"/><Relationship Id="rId5" Type="http://schemas.openxmlformats.org/officeDocument/2006/relationships/image" Target="../media/image50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2.png"/><Relationship Id="rId4" Type="http://schemas.openxmlformats.org/officeDocument/2006/relationships/image" Target="../media/image53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60.png"/><Relationship Id="rId4" Type="http://schemas.openxmlformats.org/officeDocument/2006/relationships/image" Target="../media/image55.png"/><Relationship Id="rId5" Type="http://schemas.openxmlformats.org/officeDocument/2006/relationships/image" Target="../media/image59.png"/><Relationship Id="rId6" Type="http://schemas.openxmlformats.org/officeDocument/2006/relationships/image" Target="../media/image57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49.png"/><Relationship Id="rId6" Type="http://schemas.openxmlformats.org/officeDocument/2006/relationships/image" Target="../media/image52.png"/><Relationship Id="rId7" Type="http://schemas.openxmlformats.org/officeDocument/2006/relationships/image" Target="../media/image39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49.png"/><Relationship Id="rId6" Type="http://schemas.openxmlformats.org/officeDocument/2006/relationships/image" Target="../media/image52.png"/><Relationship Id="rId7" Type="http://schemas.openxmlformats.org/officeDocument/2006/relationships/image" Target="../media/image39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hyperlink" Target="https://imgur.com/a/8Ul1Pz4" TargetMode="External"/><Relationship Id="rId4" Type="http://schemas.openxmlformats.org/officeDocument/2006/relationships/hyperlink" Target="https://imgur.com/a/P1V5XAc" TargetMode="External"/><Relationship Id="rId5" Type="http://schemas.openxmlformats.org/officeDocument/2006/relationships/hyperlink" Target="https://imgur.com/a/Nx4P2e8" TargetMode="External"/><Relationship Id="rId6" Type="http://schemas.openxmlformats.org/officeDocument/2006/relationships/hyperlink" Target="https://imgur.com/a/HtpUgWy" TargetMode="External"/><Relationship Id="rId7" Type="http://schemas.openxmlformats.org/officeDocument/2006/relationships/hyperlink" Target="https://github.com/thechloeteng/ibm-applied-data-science-capstone" TargetMode="Externa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36850" y="-264200"/>
            <a:ext cx="9103051" cy="5356294"/>
            <a:chOff x="36850" y="-264200"/>
            <a:chExt cx="9103051" cy="5356294"/>
          </a:xfrm>
        </p:grpSpPr>
        <p:sp>
          <p:nvSpPr>
            <p:cNvPr id="55" name="Google Shape;55;p13"/>
            <p:cNvSpPr/>
            <p:nvPr/>
          </p:nvSpPr>
          <p:spPr>
            <a:xfrm rot="1677186">
              <a:off x="7476179" y="71932"/>
              <a:ext cx="1600645" cy="666336"/>
            </a:xfrm>
            <a:prstGeom prst="triangle">
              <a:avLst>
                <a:gd fmla="val 7729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13"/>
            <p:cNvSpPr/>
            <p:nvPr/>
          </p:nvSpPr>
          <p:spPr>
            <a:xfrm flipH="1">
              <a:off x="324000" y="324000"/>
              <a:ext cx="8502600" cy="4495500"/>
            </a:xfrm>
            <a:prstGeom prst="flowChartPunchedCard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7" name="Google Shape;57;p13"/>
            <p:cNvGrpSpPr/>
            <p:nvPr/>
          </p:nvGrpSpPr>
          <p:grpSpPr>
            <a:xfrm rot="10800000">
              <a:off x="5282495" y="238092"/>
              <a:ext cx="352548" cy="171819"/>
              <a:chOff x="4791775" y="1877500"/>
              <a:chExt cx="66725" cy="36975"/>
            </a:xfrm>
          </p:grpSpPr>
          <p:sp>
            <p:nvSpPr>
              <p:cNvPr id="58" name="Google Shape;58;p13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" name="Google Shape;59;p13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0" name="Google Shape;60;p13"/>
            <p:cNvGrpSpPr/>
            <p:nvPr/>
          </p:nvGrpSpPr>
          <p:grpSpPr>
            <a:xfrm>
              <a:off x="3211820" y="4733592"/>
              <a:ext cx="352548" cy="171819"/>
              <a:chOff x="4791775" y="1877500"/>
              <a:chExt cx="66725" cy="36975"/>
            </a:xfrm>
          </p:grpSpPr>
          <p:sp>
            <p:nvSpPr>
              <p:cNvPr id="61" name="Google Shape;61;p13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13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3" name="Google Shape;63;p13"/>
            <p:cNvSpPr/>
            <p:nvPr/>
          </p:nvSpPr>
          <p:spPr>
            <a:xfrm rot="-1143789">
              <a:off x="102379" y="156251"/>
              <a:ext cx="574952" cy="497686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3"/>
            <p:cNvSpPr/>
            <p:nvPr/>
          </p:nvSpPr>
          <p:spPr>
            <a:xfrm rot="1242158">
              <a:off x="8495554" y="4508897"/>
              <a:ext cx="574911" cy="497651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337076" y="2892071"/>
            <a:ext cx="8502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-GB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CHLOE TENG</a:t>
            </a:r>
            <a:br>
              <a:rPr lang="en-GB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GB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28 August 2026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2129426" y="1645306"/>
            <a:ext cx="49179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Winning Space Race with Data Science</a:t>
            </a:r>
            <a:endParaRPr b="1" sz="32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oogle Shape;71;p14"/>
          <p:cNvGrpSpPr/>
          <p:nvPr/>
        </p:nvGrpSpPr>
        <p:grpSpPr>
          <a:xfrm>
            <a:off x="36850" y="-264200"/>
            <a:ext cx="9103051" cy="5356294"/>
            <a:chOff x="36850" y="-264200"/>
            <a:chExt cx="9103051" cy="5356294"/>
          </a:xfrm>
        </p:grpSpPr>
        <p:sp>
          <p:nvSpPr>
            <p:cNvPr id="72" name="Google Shape;72;p14"/>
            <p:cNvSpPr/>
            <p:nvPr/>
          </p:nvSpPr>
          <p:spPr>
            <a:xfrm rot="1677186">
              <a:off x="7476179" y="71932"/>
              <a:ext cx="1600645" cy="666336"/>
            </a:xfrm>
            <a:prstGeom prst="triangle">
              <a:avLst>
                <a:gd fmla="val 7729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4"/>
            <p:cNvSpPr/>
            <p:nvPr/>
          </p:nvSpPr>
          <p:spPr>
            <a:xfrm flipH="1">
              <a:off x="324000" y="324000"/>
              <a:ext cx="8502600" cy="4495500"/>
            </a:xfrm>
            <a:prstGeom prst="flowChartPunchedCard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4" name="Google Shape;74;p14"/>
            <p:cNvGrpSpPr/>
            <p:nvPr/>
          </p:nvGrpSpPr>
          <p:grpSpPr>
            <a:xfrm rot="10800000">
              <a:off x="5282495" y="238092"/>
              <a:ext cx="352548" cy="171819"/>
              <a:chOff x="4791775" y="1877500"/>
              <a:chExt cx="66725" cy="36975"/>
            </a:xfrm>
          </p:grpSpPr>
          <p:sp>
            <p:nvSpPr>
              <p:cNvPr id="75" name="Google Shape;75;p14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14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" name="Google Shape;77;p14"/>
            <p:cNvGrpSpPr/>
            <p:nvPr/>
          </p:nvGrpSpPr>
          <p:grpSpPr>
            <a:xfrm>
              <a:off x="3211820" y="4733592"/>
              <a:ext cx="352548" cy="171819"/>
              <a:chOff x="4791775" y="1877500"/>
              <a:chExt cx="66725" cy="36975"/>
            </a:xfrm>
          </p:grpSpPr>
          <p:sp>
            <p:nvSpPr>
              <p:cNvPr id="78" name="Google Shape;78;p14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14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0" name="Google Shape;80;p14"/>
            <p:cNvSpPr/>
            <p:nvPr/>
          </p:nvSpPr>
          <p:spPr>
            <a:xfrm rot="-1143789">
              <a:off x="102379" y="156251"/>
              <a:ext cx="574952" cy="497686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4"/>
            <p:cNvSpPr/>
            <p:nvPr/>
          </p:nvSpPr>
          <p:spPr>
            <a:xfrm rot="1242158">
              <a:off x="8495554" y="4508897"/>
              <a:ext cx="574911" cy="497651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" name="Google Shape;82;p14"/>
          <p:cNvSpPr txBox="1"/>
          <p:nvPr/>
        </p:nvSpPr>
        <p:spPr>
          <a:xfrm>
            <a:off x="3538376" y="655200"/>
            <a:ext cx="21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Outline</a:t>
            </a:r>
            <a:endParaRPr b="1" sz="2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3" name="Google Shape;83;p14"/>
          <p:cNvSpPr txBox="1"/>
          <p:nvPr/>
        </p:nvSpPr>
        <p:spPr>
          <a:xfrm>
            <a:off x="4062271" y="1510344"/>
            <a:ext cx="1047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4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02</a:t>
            </a:r>
            <a:endParaRPr b="1" sz="34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4" name="Google Shape;84;p14"/>
          <p:cNvSpPr txBox="1"/>
          <p:nvPr/>
        </p:nvSpPr>
        <p:spPr>
          <a:xfrm>
            <a:off x="3157921" y="2090344"/>
            <a:ext cx="2856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Introduction</a:t>
            </a:r>
            <a:endParaRPr sz="1300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85" name="Google Shape;85;p14"/>
          <p:cNvSpPr txBox="1"/>
          <p:nvPr/>
        </p:nvSpPr>
        <p:spPr>
          <a:xfrm>
            <a:off x="1648076" y="1510344"/>
            <a:ext cx="1047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4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01</a:t>
            </a:r>
            <a:endParaRPr b="1" sz="34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6" name="Google Shape;86;p14"/>
          <p:cNvSpPr txBox="1"/>
          <p:nvPr/>
        </p:nvSpPr>
        <p:spPr>
          <a:xfrm>
            <a:off x="743726" y="2090344"/>
            <a:ext cx="2856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Executive Summary</a:t>
            </a:r>
            <a:endParaRPr sz="1300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1648076" y="2769800"/>
            <a:ext cx="1047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4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04</a:t>
            </a:r>
            <a:endParaRPr b="1" sz="34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8" name="Google Shape;88;p14"/>
          <p:cNvSpPr txBox="1"/>
          <p:nvPr/>
        </p:nvSpPr>
        <p:spPr>
          <a:xfrm>
            <a:off x="743726" y="3376288"/>
            <a:ext cx="2856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Results</a:t>
            </a:r>
            <a:endParaRPr sz="1300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6480776" y="1498863"/>
            <a:ext cx="1047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4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0</a:t>
            </a:r>
            <a:r>
              <a:rPr b="1" lang="en-GB" sz="34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3</a:t>
            </a:r>
            <a:endParaRPr b="1" sz="34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0" name="Google Shape;90;p14"/>
          <p:cNvSpPr txBox="1"/>
          <p:nvPr/>
        </p:nvSpPr>
        <p:spPr>
          <a:xfrm>
            <a:off x="5576426" y="2101825"/>
            <a:ext cx="2856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Methodology</a:t>
            </a:r>
            <a:endParaRPr sz="1300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6480776" y="2769800"/>
            <a:ext cx="1047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4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06</a:t>
            </a:r>
            <a:endParaRPr b="1" sz="34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5576426" y="3376288"/>
            <a:ext cx="2856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Appendix</a:t>
            </a:r>
            <a:endParaRPr sz="1300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4062271" y="2769800"/>
            <a:ext cx="1047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4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05</a:t>
            </a:r>
            <a:endParaRPr b="1" sz="34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3157921" y="3376288"/>
            <a:ext cx="2856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Conclusion</a:t>
            </a:r>
            <a:endParaRPr sz="1300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15"/>
          <p:cNvGrpSpPr/>
          <p:nvPr/>
        </p:nvGrpSpPr>
        <p:grpSpPr>
          <a:xfrm>
            <a:off x="36850" y="-264200"/>
            <a:ext cx="9103051" cy="5356294"/>
            <a:chOff x="36850" y="-264200"/>
            <a:chExt cx="9103051" cy="5356294"/>
          </a:xfrm>
        </p:grpSpPr>
        <p:sp>
          <p:nvSpPr>
            <p:cNvPr id="100" name="Google Shape;100;p15"/>
            <p:cNvSpPr/>
            <p:nvPr/>
          </p:nvSpPr>
          <p:spPr>
            <a:xfrm rot="1677186">
              <a:off x="7476179" y="71932"/>
              <a:ext cx="1600645" cy="666336"/>
            </a:xfrm>
            <a:prstGeom prst="triangle">
              <a:avLst>
                <a:gd fmla="val 7729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5"/>
            <p:cNvSpPr/>
            <p:nvPr/>
          </p:nvSpPr>
          <p:spPr>
            <a:xfrm flipH="1">
              <a:off x="324000" y="324000"/>
              <a:ext cx="8502600" cy="4495500"/>
            </a:xfrm>
            <a:prstGeom prst="flowChartPunchedCard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2" name="Google Shape;102;p15"/>
            <p:cNvGrpSpPr/>
            <p:nvPr/>
          </p:nvGrpSpPr>
          <p:grpSpPr>
            <a:xfrm rot="10800000">
              <a:off x="5282495" y="238092"/>
              <a:ext cx="352548" cy="171819"/>
              <a:chOff x="4791775" y="1877500"/>
              <a:chExt cx="66725" cy="36975"/>
            </a:xfrm>
          </p:grpSpPr>
          <p:sp>
            <p:nvSpPr>
              <p:cNvPr id="103" name="Google Shape;103;p15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15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5" name="Google Shape;105;p15"/>
            <p:cNvGrpSpPr/>
            <p:nvPr/>
          </p:nvGrpSpPr>
          <p:grpSpPr>
            <a:xfrm>
              <a:off x="3211820" y="4733592"/>
              <a:ext cx="352548" cy="171819"/>
              <a:chOff x="4791775" y="1877500"/>
              <a:chExt cx="66725" cy="36975"/>
            </a:xfrm>
          </p:grpSpPr>
          <p:sp>
            <p:nvSpPr>
              <p:cNvPr id="106" name="Google Shape;106;p15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15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8" name="Google Shape;108;p15"/>
            <p:cNvSpPr/>
            <p:nvPr/>
          </p:nvSpPr>
          <p:spPr>
            <a:xfrm rot="-1143789">
              <a:off x="102379" y="156251"/>
              <a:ext cx="574952" cy="497686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5"/>
            <p:cNvSpPr/>
            <p:nvPr/>
          </p:nvSpPr>
          <p:spPr>
            <a:xfrm rot="1242158">
              <a:off x="8495554" y="4508897"/>
              <a:ext cx="574911" cy="497651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" name="Google Shape;110;p15"/>
          <p:cNvSpPr txBox="1"/>
          <p:nvPr/>
        </p:nvSpPr>
        <p:spPr>
          <a:xfrm>
            <a:off x="2250326" y="535501"/>
            <a:ext cx="467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Executive Summary</a:t>
            </a:r>
            <a:endParaRPr b="1" sz="2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675433" y="1172725"/>
            <a:ext cx="3756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Summary of </a:t>
            </a:r>
            <a:r>
              <a:rPr b="1" lang="en-GB" sz="16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Methodologies</a:t>
            </a:r>
            <a:endParaRPr b="1" sz="16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554683" y="2034411"/>
            <a:ext cx="36897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aleway"/>
              <a:buAutoNum type="arabicPeriod"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Data Collection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aleway"/>
              <a:buAutoNum type="arabicPeriod"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Data Wrangling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aleway"/>
              <a:buAutoNum type="arabicPeriod"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Exploratory Data Analysis (EDA)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aleway"/>
              <a:buAutoNum type="arabicPeriod"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Interactive Visual Analytics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aleway"/>
              <a:buAutoNum type="arabicPeriod"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Predictive Analysis (Classification)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675433" y="1696995"/>
            <a:ext cx="263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99999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This project follows </a:t>
            </a:r>
            <a:r>
              <a:rPr lang="en-GB" sz="1200">
                <a:solidFill>
                  <a:srgbClr val="99999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these </a:t>
            </a:r>
            <a:r>
              <a:rPr lang="en-GB" sz="1200">
                <a:solidFill>
                  <a:srgbClr val="99999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steps:</a:t>
            </a:r>
            <a:endParaRPr sz="1200">
              <a:solidFill>
                <a:srgbClr val="999999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4868139" y="1172725"/>
            <a:ext cx="307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Summary of Results</a:t>
            </a:r>
            <a:endParaRPr b="1" sz="16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4745232" y="2300962"/>
            <a:ext cx="3689700" cy="10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aleway"/>
              <a:buAutoNum type="arabicPeriod"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Exploratory Data Analysis (EDA) Results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aleway"/>
              <a:buAutoNum type="arabicPeriod"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Geospatial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Analytics (Folium Interactive Map)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aleway"/>
              <a:buAutoNum type="arabicPeriod"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Interactive Dashboard (Plotly Dash)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aleway"/>
              <a:buAutoNum type="arabicPeriod"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Predictive Analysis of Classification Models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4865468" y="1696995"/>
            <a:ext cx="3756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99999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This project produced the following outputs</a:t>
            </a:r>
            <a:endParaRPr sz="1200">
              <a:solidFill>
                <a:srgbClr val="999999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999999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and visualisations:</a:t>
            </a:r>
            <a:endParaRPr sz="1200">
              <a:solidFill>
                <a:srgbClr val="999999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117" name="Google Shape;117;p15" title="Slide 3 - 03 - EDA Visualisa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952" y="3431624"/>
            <a:ext cx="1567198" cy="1167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title="Slide 3 - 04 - Interactive Visual Analytics (Geo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3638" y="3431073"/>
            <a:ext cx="2020587" cy="1168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title="Slide 3 - 04 - Interactive Dashboar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3714" y="3431082"/>
            <a:ext cx="2463266" cy="1168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title="Slide 3 - 05 - Predictive Analysis (Classification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66468" y="3431073"/>
            <a:ext cx="1368478" cy="11682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16"/>
          <p:cNvGrpSpPr/>
          <p:nvPr/>
        </p:nvGrpSpPr>
        <p:grpSpPr>
          <a:xfrm>
            <a:off x="36850" y="-264200"/>
            <a:ext cx="9103051" cy="5356294"/>
            <a:chOff x="36850" y="-264200"/>
            <a:chExt cx="9103051" cy="5356294"/>
          </a:xfrm>
        </p:grpSpPr>
        <p:sp>
          <p:nvSpPr>
            <p:cNvPr id="126" name="Google Shape;126;p16"/>
            <p:cNvSpPr/>
            <p:nvPr/>
          </p:nvSpPr>
          <p:spPr>
            <a:xfrm rot="1677186">
              <a:off x="7476179" y="71932"/>
              <a:ext cx="1600645" cy="666336"/>
            </a:xfrm>
            <a:prstGeom prst="triangle">
              <a:avLst>
                <a:gd fmla="val 7729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6"/>
            <p:cNvSpPr/>
            <p:nvPr/>
          </p:nvSpPr>
          <p:spPr>
            <a:xfrm flipH="1">
              <a:off x="324000" y="324000"/>
              <a:ext cx="8502600" cy="4495500"/>
            </a:xfrm>
            <a:prstGeom prst="flowChartPunchedCard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8" name="Google Shape;128;p16"/>
            <p:cNvGrpSpPr/>
            <p:nvPr/>
          </p:nvGrpSpPr>
          <p:grpSpPr>
            <a:xfrm rot="10800000">
              <a:off x="5282495" y="238092"/>
              <a:ext cx="352548" cy="171819"/>
              <a:chOff x="4791775" y="1877500"/>
              <a:chExt cx="66725" cy="36975"/>
            </a:xfrm>
          </p:grpSpPr>
          <p:sp>
            <p:nvSpPr>
              <p:cNvPr id="129" name="Google Shape;129;p16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16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1" name="Google Shape;131;p16"/>
            <p:cNvGrpSpPr/>
            <p:nvPr/>
          </p:nvGrpSpPr>
          <p:grpSpPr>
            <a:xfrm>
              <a:off x="3211820" y="4733592"/>
              <a:ext cx="352548" cy="171819"/>
              <a:chOff x="4791775" y="1877500"/>
              <a:chExt cx="66725" cy="36975"/>
            </a:xfrm>
          </p:grpSpPr>
          <p:sp>
            <p:nvSpPr>
              <p:cNvPr id="132" name="Google Shape;132;p16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16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4" name="Google Shape;134;p16"/>
            <p:cNvSpPr/>
            <p:nvPr/>
          </p:nvSpPr>
          <p:spPr>
            <a:xfrm rot="-1143789">
              <a:off x="102379" y="156251"/>
              <a:ext cx="574952" cy="497686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6"/>
            <p:cNvSpPr/>
            <p:nvPr/>
          </p:nvSpPr>
          <p:spPr>
            <a:xfrm rot="1242158">
              <a:off x="8495554" y="4508897"/>
              <a:ext cx="574911" cy="497651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" name="Google Shape;136;p16"/>
          <p:cNvSpPr txBox="1"/>
          <p:nvPr/>
        </p:nvSpPr>
        <p:spPr>
          <a:xfrm>
            <a:off x="3394975" y="557455"/>
            <a:ext cx="2420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Introduction</a:t>
            </a:r>
            <a:endParaRPr b="1" sz="2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879176" y="1139947"/>
            <a:ext cx="7418400" cy="3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Spac</a:t>
            </a: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b="1" lang="en-GB" sz="1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X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has significantly reduced the cost of rocket launches by developing reusable Falcon 9 rockets. The company advertises Falcon 9 launches at approximately 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$62 million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, while traditional launch providers may charge 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over $165 million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per launch.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A major factor behind this cost advantage is </a:t>
            </a: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SpaceX's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ability to 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recover and reuse the Falcon 9 first stage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. However, the success of first-stage landing depends on various mission factors, such as launch site, payload, orbit type, and booster characteristics.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In this project, we analyse historical Falcon 9 launch data and apply machine learning techniques to 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predict whether the first stage will successfully land.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The results can help estimate launch costs and provide insights for companies seeking to compete in the commercial space launch market.</a:t>
            </a:r>
            <a:endParaRPr b="1"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aleway"/>
              <a:buAutoNum type="arabicPeriod"/>
            </a:pP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Can we predict whether the Falcon 9 first stage will successfully land based on historical launch data?</a:t>
            </a:r>
            <a:endParaRPr b="1"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aleway"/>
              <a:buAutoNum type="arabicPeriod"/>
            </a:pP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Which factors have the greatest impact on first-stage landing success?</a:t>
            </a:r>
            <a:endParaRPr b="1"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aleway"/>
              <a:buAutoNum type="arabicPeriod"/>
            </a:pP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What launch conditions or configurations provide the highest probability of a successful landing?</a:t>
            </a:r>
            <a:endParaRPr b="1"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aleway"/>
              <a:buAutoNum type="arabicPeriod"/>
            </a:pP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Can the prediction model help estimate launch costs and support decision-making for companies competing with </a:t>
            </a: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SpaceX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?</a:t>
            </a:r>
            <a:endParaRPr b="1"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7"/>
          <p:cNvGrpSpPr/>
          <p:nvPr/>
        </p:nvGrpSpPr>
        <p:grpSpPr>
          <a:xfrm>
            <a:off x="36850" y="-264200"/>
            <a:ext cx="9103051" cy="5356294"/>
            <a:chOff x="36850" y="-264200"/>
            <a:chExt cx="9103051" cy="5356294"/>
          </a:xfrm>
        </p:grpSpPr>
        <p:sp>
          <p:nvSpPr>
            <p:cNvPr id="143" name="Google Shape;143;p17"/>
            <p:cNvSpPr/>
            <p:nvPr/>
          </p:nvSpPr>
          <p:spPr>
            <a:xfrm rot="1677186">
              <a:off x="7476179" y="71932"/>
              <a:ext cx="1600645" cy="666336"/>
            </a:xfrm>
            <a:prstGeom prst="triangle">
              <a:avLst>
                <a:gd fmla="val 7729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7"/>
            <p:cNvSpPr/>
            <p:nvPr/>
          </p:nvSpPr>
          <p:spPr>
            <a:xfrm flipH="1">
              <a:off x="324000" y="324000"/>
              <a:ext cx="8502600" cy="4495500"/>
            </a:xfrm>
            <a:prstGeom prst="flowChartPunchedCard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5" name="Google Shape;145;p17"/>
            <p:cNvGrpSpPr/>
            <p:nvPr/>
          </p:nvGrpSpPr>
          <p:grpSpPr>
            <a:xfrm rot="10800000">
              <a:off x="5282495" y="238092"/>
              <a:ext cx="352548" cy="171819"/>
              <a:chOff x="4791775" y="1877500"/>
              <a:chExt cx="66725" cy="36975"/>
            </a:xfrm>
          </p:grpSpPr>
          <p:sp>
            <p:nvSpPr>
              <p:cNvPr id="146" name="Google Shape;146;p17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7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7"/>
            <p:cNvGrpSpPr/>
            <p:nvPr/>
          </p:nvGrpSpPr>
          <p:grpSpPr>
            <a:xfrm>
              <a:off x="3211820" y="4733592"/>
              <a:ext cx="352548" cy="171819"/>
              <a:chOff x="4791775" y="1877500"/>
              <a:chExt cx="66725" cy="36975"/>
            </a:xfrm>
          </p:grpSpPr>
          <p:sp>
            <p:nvSpPr>
              <p:cNvPr id="149" name="Google Shape;149;p17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7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1" name="Google Shape;151;p17"/>
            <p:cNvSpPr/>
            <p:nvPr/>
          </p:nvSpPr>
          <p:spPr>
            <a:xfrm rot="-1143789">
              <a:off x="102379" y="156251"/>
              <a:ext cx="574952" cy="497686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7"/>
            <p:cNvSpPr/>
            <p:nvPr/>
          </p:nvSpPr>
          <p:spPr>
            <a:xfrm rot="1242158">
              <a:off x="8495554" y="4508897"/>
              <a:ext cx="574911" cy="497651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3" name="Google Shape;153;p17"/>
          <p:cNvSpPr txBox="1"/>
          <p:nvPr/>
        </p:nvSpPr>
        <p:spPr>
          <a:xfrm>
            <a:off x="2645900" y="425724"/>
            <a:ext cx="3655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Methodology</a:t>
            </a: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 Summary</a:t>
            </a:r>
            <a:endParaRPr b="1" sz="2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527900" y="810642"/>
            <a:ext cx="7891500" cy="39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aleway"/>
              <a:buAutoNum type="arabicPeriod"/>
            </a:pPr>
            <a:r>
              <a:rPr b="1" lang="en-GB" sz="13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Data Collection</a:t>
            </a:r>
            <a:br>
              <a:rPr b="1" lang="en-GB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b="1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aleway"/>
              <a:buAutoNum type="alphaLcPeriod"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Collected Falcon 9 launch data using the</a:t>
            </a:r>
            <a:r>
              <a:rPr lang="en-GB" sz="1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b="1" lang="en-GB" sz="1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SpaceX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REST API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aleway"/>
              <a:buAutoNum type="alphaLcPeriod"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Performed 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web scraping from Wikipedia Falcon 9 launch records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to obtain historical launch information</a:t>
            </a:r>
            <a:b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Raleway"/>
              <a:buAutoNum type="arabicPeriod"/>
            </a:pPr>
            <a:r>
              <a:rPr b="1" lang="en-GB" sz="13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Data Wrangling and Data Processing</a:t>
            </a:r>
            <a:br>
              <a:rPr b="1" lang="en-GB" sz="13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b="1" sz="13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aleway"/>
              <a:buAutoNum type="alphaLcPeriod"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Cleaned and transformed the collected data using Pandas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aleway"/>
              <a:buAutoNum type="alphaLcPeriod"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Handled missing values and formatted variables for analysis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aleway"/>
              <a:buAutoNum type="alphaLcPeriod"/>
            </a:pP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Created the landing outcome class label: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1 = Successful first-stage landing, 0 = Unsuccessful first-stage landing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aleway"/>
              <a:buAutoNum type="alphaLcPeriod"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Prepared features including launch site, payload mass, orbit type, and booster information</a:t>
            </a:r>
            <a:br>
              <a:rPr b="1" lang="en-GB" sz="13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b="1" sz="13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Raleway"/>
              <a:buAutoNum type="arabicPeriod"/>
            </a:pPr>
            <a:r>
              <a:rPr b="1" lang="en-GB" sz="13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Exploratory Data Analysis (EDA)</a:t>
            </a:r>
            <a:br>
              <a:rPr b="1" lang="en-GB" sz="13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b="1" sz="13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aleway"/>
              <a:buAutoNum type="alphaLcPeriod"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Used 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SQL queries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to filter, aggregate, and analyze the </a:t>
            </a: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SpaceX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launch dataset 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aleway"/>
              <a:buAutoNum type="alphaLcPeriod"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Applied 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Pandas, Matplotlib, and Seaborn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visualization techniques to explore relationships between launch factors and landing success 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18"/>
          <p:cNvGrpSpPr/>
          <p:nvPr/>
        </p:nvGrpSpPr>
        <p:grpSpPr>
          <a:xfrm>
            <a:off x="36850" y="-264200"/>
            <a:ext cx="9103051" cy="5356294"/>
            <a:chOff x="36850" y="-264200"/>
            <a:chExt cx="9103051" cy="5356294"/>
          </a:xfrm>
        </p:grpSpPr>
        <p:sp>
          <p:nvSpPr>
            <p:cNvPr id="160" name="Google Shape;160;p18"/>
            <p:cNvSpPr/>
            <p:nvPr/>
          </p:nvSpPr>
          <p:spPr>
            <a:xfrm rot="1677186">
              <a:off x="7476179" y="71932"/>
              <a:ext cx="1600645" cy="666336"/>
            </a:xfrm>
            <a:prstGeom prst="triangle">
              <a:avLst>
                <a:gd fmla="val 7729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8"/>
            <p:cNvSpPr/>
            <p:nvPr/>
          </p:nvSpPr>
          <p:spPr>
            <a:xfrm flipH="1">
              <a:off x="324000" y="324000"/>
              <a:ext cx="8502600" cy="4495500"/>
            </a:xfrm>
            <a:prstGeom prst="flowChartPunchedCard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2" name="Google Shape;162;p18"/>
            <p:cNvGrpSpPr/>
            <p:nvPr/>
          </p:nvGrpSpPr>
          <p:grpSpPr>
            <a:xfrm rot="10800000">
              <a:off x="5282495" y="238092"/>
              <a:ext cx="352548" cy="171819"/>
              <a:chOff x="4791775" y="1877500"/>
              <a:chExt cx="66725" cy="36975"/>
            </a:xfrm>
          </p:grpSpPr>
          <p:sp>
            <p:nvSpPr>
              <p:cNvPr id="163" name="Google Shape;163;p18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18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" name="Google Shape;165;p18"/>
            <p:cNvGrpSpPr/>
            <p:nvPr/>
          </p:nvGrpSpPr>
          <p:grpSpPr>
            <a:xfrm>
              <a:off x="3211820" y="4733592"/>
              <a:ext cx="352548" cy="171819"/>
              <a:chOff x="4791775" y="1877500"/>
              <a:chExt cx="66725" cy="36975"/>
            </a:xfrm>
          </p:grpSpPr>
          <p:sp>
            <p:nvSpPr>
              <p:cNvPr id="166" name="Google Shape;166;p18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8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8" name="Google Shape;168;p18"/>
            <p:cNvSpPr/>
            <p:nvPr/>
          </p:nvSpPr>
          <p:spPr>
            <a:xfrm rot="-1143789">
              <a:off x="102379" y="156251"/>
              <a:ext cx="574952" cy="497686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8"/>
            <p:cNvSpPr/>
            <p:nvPr/>
          </p:nvSpPr>
          <p:spPr>
            <a:xfrm rot="1242158">
              <a:off x="8495554" y="4508897"/>
              <a:ext cx="574911" cy="497651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0" name="Google Shape;170;p18"/>
          <p:cNvSpPr txBox="1"/>
          <p:nvPr/>
        </p:nvSpPr>
        <p:spPr>
          <a:xfrm>
            <a:off x="527900" y="1029012"/>
            <a:ext cx="7891500" cy="30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   4.     Interactive Visual Analytics</a:t>
            </a:r>
            <a:endParaRPr b="1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aleway"/>
              <a:buAutoNum type="alphaLcPeriod"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Used 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Folium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for geospatial analysis of launch sites and success patterns 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aleway"/>
              <a:buAutoNum type="alphaLcPeriod"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Developed an interactive 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Plotly Dash dashboard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to analyze launch performance based on launch site and payload characteristics </a:t>
            </a:r>
            <a:b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  </a:t>
            </a:r>
            <a:r>
              <a:rPr b="1" lang="en-GB" sz="13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5.      </a:t>
            </a:r>
            <a:r>
              <a:rPr b="1" lang="en-GB" sz="13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Predictive Analysis and Model Evaluation</a:t>
            </a:r>
            <a:endParaRPr b="1" sz="13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aleway"/>
              <a:buAutoNum type="alphaLcPeriod"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Applied classification algorithms using 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Scikit-Learn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aleway"/>
              <a:buAutoNum type="alphaLcPeriod"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Standardized features and split data into training and testing datasets 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aleway"/>
              <a:buAutoNum type="alphaLcPeriod"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Trained multiple classification models: Logistic Regression, Support Vector Machine (SVM), Decision Tree, and K-Nearest Neighbor (KNN)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aleway"/>
              <a:buAutoNum type="alphaLcPeriod"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Used 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GridSearchCV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for hyperparameter tuning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aleway"/>
              <a:buAutoNum type="alphaLcPeriod"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Evaluated models using: Accuracy score and Confusion matrix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2645900" y="425724"/>
            <a:ext cx="3655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Methodology Summary</a:t>
            </a:r>
            <a:endParaRPr b="1" sz="2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19"/>
          <p:cNvGrpSpPr/>
          <p:nvPr/>
        </p:nvGrpSpPr>
        <p:grpSpPr>
          <a:xfrm>
            <a:off x="36850" y="-264200"/>
            <a:ext cx="9103051" cy="5356294"/>
            <a:chOff x="36850" y="-264200"/>
            <a:chExt cx="9103051" cy="5356294"/>
          </a:xfrm>
        </p:grpSpPr>
        <p:sp>
          <p:nvSpPr>
            <p:cNvPr id="177" name="Google Shape;177;p19"/>
            <p:cNvSpPr/>
            <p:nvPr/>
          </p:nvSpPr>
          <p:spPr>
            <a:xfrm rot="1677186">
              <a:off x="7476179" y="71932"/>
              <a:ext cx="1600645" cy="666336"/>
            </a:xfrm>
            <a:prstGeom prst="triangle">
              <a:avLst>
                <a:gd fmla="val 7729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9"/>
            <p:cNvSpPr/>
            <p:nvPr/>
          </p:nvSpPr>
          <p:spPr>
            <a:xfrm flipH="1">
              <a:off x="324000" y="324000"/>
              <a:ext cx="8502600" cy="4495500"/>
            </a:xfrm>
            <a:prstGeom prst="flowChartPunchedCard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9" name="Google Shape;179;p19"/>
            <p:cNvGrpSpPr/>
            <p:nvPr/>
          </p:nvGrpSpPr>
          <p:grpSpPr>
            <a:xfrm rot="10800000">
              <a:off x="5282495" y="238092"/>
              <a:ext cx="352548" cy="171819"/>
              <a:chOff x="4791775" y="1877500"/>
              <a:chExt cx="66725" cy="36975"/>
            </a:xfrm>
          </p:grpSpPr>
          <p:sp>
            <p:nvSpPr>
              <p:cNvPr id="180" name="Google Shape;180;p19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9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2" name="Google Shape;182;p19"/>
            <p:cNvGrpSpPr/>
            <p:nvPr/>
          </p:nvGrpSpPr>
          <p:grpSpPr>
            <a:xfrm>
              <a:off x="3211820" y="4733592"/>
              <a:ext cx="352548" cy="171819"/>
              <a:chOff x="4791775" y="1877500"/>
              <a:chExt cx="66725" cy="36975"/>
            </a:xfrm>
          </p:grpSpPr>
          <p:sp>
            <p:nvSpPr>
              <p:cNvPr id="183" name="Google Shape;183;p19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19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5" name="Google Shape;185;p19"/>
            <p:cNvSpPr/>
            <p:nvPr/>
          </p:nvSpPr>
          <p:spPr>
            <a:xfrm rot="-1143789">
              <a:off x="102379" y="156251"/>
              <a:ext cx="574952" cy="497686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9"/>
            <p:cNvSpPr/>
            <p:nvPr/>
          </p:nvSpPr>
          <p:spPr>
            <a:xfrm rot="1242158">
              <a:off x="8495554" y="4508897"/>
              <a:ext cx="574911" cy="497651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87" name="Google Shape;187;p19" title="Slide 7 - SpaceX REST API Code Flowcha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065" y="2016334"/>
            <a:ext cx="8240399" cy="1687837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 txBox="1"/>
          <p:nvPr/>
        </p:nvSpPr>
        <p:spPr>
          <a:xfrm>
            <a:off x="879176" y="1081782"/>
            <a:ext cx="74184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3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Objective:</a:t>
            </a:r>
            <a:r>
              <a:rPr b="1" lang="en-GB" sz="13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Retrieve structured Falcon 9 launch data from the </a:t>
            </a:r>
            <a:r>
              <a:rPr b="1" lang="en-GB" sz="13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SpaceX </a:t>
            </a:r>
            <a:r>
              <a:rPr b="1" lang="en-GB" sz="13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REST API, including rocket, payload information, launch site, core information, flight number, and launch date.</a:t>
            </a:r>
            <a:endParaRPr b="1" sz="13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9" name="Google Shape;189;p19"/>
          <p:cNvSpPr txBox="1"/>
          <p:nvPr/>
        </p:nvSpPr>
        <p:spPr>
          <a:xfrm>
            <a:off x="346473" y="1907100"/>
            <a:ext cx="3333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Flowchart (See Slide 54 Appendix for full view):</a:t>
            </a:r>
            <a:endParaRPr b="1" sz="11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0" name="Google Shape;190;p19"/>
          <p:cNvSpPr txBox="1"/>
          <p:nvPr/>
        </p:nvSpPr>
        <p:spPr>
          <a:xfrm>
            <a:off x="322880" y="4420800"/>
            <a:ext cx="3332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 u="sng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 URL of My SpaceX REST API Notebook</a:t>
            </a:r>
            <a:endParaRPr b="1" sz="11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1140476" y="579404"/>
            <a:ext cx="6895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Data</a:t>
            </a:r>
            <a:r>
              <a:rPr b="1" lang="en-GB" sz="2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 Co</a:t>
            </a: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llection - SpaceX REST API</a:t>
            </a:r>
            <a:endParaRPr b="1" sz="2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" name="Google Shape;196;p20"/>
          <p:cNvGrpSpPr/>
          <p:nvPr/>
        </p:nvGrpSpPr>
        <p:grpSpPr>
          <a:xfrm>
            <a:off x="36850" y="-264200"/>
            <a:ext cx="9103051" cy="5356294"/>
            <a:chOff x="36850" y="-264200"/>
            <a:chExt cx="9103051" cy="5356294"/>
          </a:xfrm>
        </p:grpSpPr>
        <p:sp>
          <p:nvSpPr>
            <p:cNvPr id="197" name="Google Shape;197;p20"/>
            <p:cNvSpPr/>
            <p:nvPr/>
          </p:nvSpPr>
          <p:spPr>
            <a:xfrm rot="1677186">
              <a:off x="7476179" y="71932"/>
              <a:ext cx="1600645" cy="666336"/>
            </a:xfrm>
            <a:prstGeom prst="triangle">
              <a:avLst>
                <a:gd fmla="val 7729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20"/>
            <p:cNvSpPr/>
            <p:nvPr/>
          </p:nvSpPr>
          <p:spPr>
            <a:xfrm flipH="1">
              <a:off x="324000" y="324000"/>
              <a:ext cx="8502600" cy="4495500"/>
            </a:xfrm>
            <a:prstGeom prst="flowChartPunchedCard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9" name="Google Shape;199;p20"/>
            <p:cNvGrpSpPr/>
            <p:nvPr/>
          </p:nvGrpSpPr>
          <p:grpSpPr>
            <a:xfrm rot="10800000">
              <a:off x="5282495" y="238092"/>
              <a:ext cx="352548" cy="171819"/>
              <a:chOff x="4791775" y="1877500"/>
              <a:chExt cx="66725" cy="36975"/>
            </a:xfrm>
          </p:grpSpPr>
          <p:sp>
            <p:nvSpPr>
              <p:cNvPr id="200" name="Google Shape;200;p20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20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2" name="Google Shape;202;p20"/>
            <p:cNvGrpSpPr/>
            <p:nvPr/>
          </p:nvGrpSpPr>
          <p:grpSpPr>
            <a:xfrm>
              <a:off x="3211820" y="4733592"/>
              <a:ext cx="352548" cy="171819"/>
              <a:chOff x="4791775" y="1877500"/>
              <a:chExt cx="66725" cy="36975"/>
            </a:xfrm>
          </p:grpSpPr>
          <p:sp>
            <p:nvSpPr>
              <p:cNvPr id="203" name="Google Shape;203;p20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20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5" name="Google Shape;205;p20"/>
            <p:cNvSpPr/>
            <p:nvPr/>
          </p:nvSpPr>
          <p:spPr>
            <a:xfrm rot="-1143789">
              <a:off x="102379" y="156251"/>
              <a:ext cx="574952" cy="497686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0"/>
            <p:cNvSpPr/>
            <p:nvPr/>
          </p:nvSpPr>
          <p:spPr>
            <a:xfrm rot="1242158">
              <a:off x="8495554" y="4508897"/>
              <a:ext cx="574911" cy="497651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07" name="Google Shape;207;p20" title="Slide 8 - Web Scraping Code Flowcha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400" y="1978006"/>
            <a:ext cx="8240399" cy="2226354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0"/>
          <p:cNvSpPr txBox="1"/>
          <p:nvPr/>
        </p:nvSpPr>
        <p:spPr>
          <a:xfrm>
            <a:off x="879176" y="1081782"/>
            <a:ext cx="74184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3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Objective:</a:t>
            </a:r>
            <a:r>
              <a:rPr b="1" lang="en-GB" sz="13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Collect historical Falcon 9 launch records by scraping launch tables from a Wikipedia page titled "List of Falcon 9 and Falcon Heavy launches".</a:t>
            </a:r>
            <a:endParaRPr b="1" sz="13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322880" y="4420977"/>
            <a:ext cx="3332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 u="sng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 URL of My Web Scraping Notebook</a:t>
            </a:r>
            <a:endParaRPr b="1" sz="11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1140476" y="579404"/>
            <a:ext cx="6895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Data</a:t>
            </a:r>
            <a:r>
              <a:rPr b="1" lang="en-GB" sz="2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 Co</a:t>
            </a: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llection - Web Scraping</a:t>
            </a:r>
            <a:endParaRPr b="1" sz="2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346473" y="1907100"/>
            <a:ext cx="3333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Flowchart (See Slide 54 Appendix for full view):</a:t>
            </a:r>
            <a:endParaRPr b="1" sz="11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21"/>
          <p:cNvGrpSpPr/>
          <p:nvPr/>
        </p:nvGrpSpPr>
        <p:grpSpPr>
          <a:xfrm>
            <a:off x="36850" y="-264200"/>
            <a:ext cx="9103051" cy="5356294"/>
            <a:chOff x="36850" y="-264200"/>
            <a:chExt cx="9103051" cy="5356294"/>
          </a:xfrm>
        </p:grpSpPr>
        <p:sp>
          <p:nvSpPr>
            <p:cNvPr id="217" name="Google Shape;217;p21"/>
            <p:cNvSpPr/>
            <p:nvPr/>
          </p:nvSpPr>
          <p:spPr>
            <a:xfrm rot="1677186">
              <a:off x="7476179" y="71932"/>
              <a:ext cx="1600645" cy="666336"/>
            </a:xfrm>
            <a:prstGeom prst="triangle">
              <a:avLst>
                <a:gd fmla="val 7729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1"/>
            <p:cNvSpPr/>
            <p:nvPr/>
          </p:nvSpPr>
          <p:spPr>
            <a:xfrm flipH="1">
              <a:off x="324000" y="324000"/>
              <a:ext cx="8502600" cy="4495500"/>
            </a:xfrm>
            <a:prstGeom prst="flowChartPunchedCard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9" name="Google Shape;219;p21"/>
            <p:cNvGrpSpPr/>
            <p:nvPr/>
          </p:nvGrpSpPr>
          <p:grpSpPr>
            <a:xfrm rot="10800000">
              <a:off x="5282495" y="238092"/>
              <a:ext cx="352548" cy="171819"/>
              <a:chOff x="4791775" y="1877500"/>
              <a:chExt cx="66725" cy="36975"/>
            </a:xfrm>
          </p:grpSpPr>
          <p:sp>
            <p:nvSpPr>
              <p:cNvPr id="220" name="Google Shape;220;p21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21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2" name="Google Shape;222;p21"/>
            <p:cNvGrpSpPr/>
            <p:nvPr/>
          </p:nvGrpSpPr>
          <p:grpSpPr>
            <a:xfrm>
              <a:off x="3211820" y="4733592"/>
              <a:ext cx="352548" cy="171819"/>
              <a:chOff x="4791775" y="1877500"/>
              <a:chExt cx="66725" cy="36975"/>
            </a:xfrm>
          </p:grpSpPr>
          <p:sp>
            <p:nvSpPr>
              <p:cNvPr id="223" name="Google Shape;223;p21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21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5" name="Google Shape;225;p21"/>
            <p:cNvSpPr/>
            <p:nvPr/>
          </p:nvSpPr>
          <p:spPr>
            <a:xfrm rot="-1143789">
              <a:off x="102379" y="156251"/>
              <a:ext cx="574952" cy="497686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1"/>
            <p:cNvSpPr/>
            <p:nvPr/>
          </p:nvSpPr>
          <p:spPr>
            <a:xfrm rot="1242158">
              <a:off x="8495554" y="4508897"/>
              <a:ext cx="574911" cy="497651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27" name="Google Shape;227;p21" title="Slide 9 - Data Wrangling Code Flowcha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065" y="1436400"/>
            <a:ext cx="8240399" cy="218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1"/>
          <p:cNvSpPr txBox="1"/>
          <p:nvPr/>
        </p:nvSpPr>
        <p:spPr>
          <a:xfrm>
            <a:off x="1140476" y="557450"/>
            <a:ext cx="6895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Data</a:t>
            </a:r>
            <a:r>
              <a:rPr b="1" lang="en-GB" sz="2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 Wrangling</a:t>
            </a:r>
            <a:endParaRPr b="1" sz="2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346476" y="1550700"/>
            <a:ext cx="3332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Flowchar</a:t>
            </a: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t </a:t>
            </a:r>
            <a:r>
              <a:rPr b="1" lang="en-GB" sz="1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(See Slide 54 Appendix for full view)</a:t>
            </a: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:</a:t>
            </a:r>
            <a:endParaRPr b="1" sz="11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322880" y="4420800"/>
            <a:ext cx="3332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 u="sng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 URL of My Data Wrangling Notebook</a:t>
            </a:r>
            <a:endParaRPr b="1" sz="1100" u="sng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oogle Shape;235;p22"/>
          <p:cNvGrpSpPr/>
          <p:nvPr/>
        </p:nvGrpSpPr>
        <p:grpSpPr>
          <a:xfrm>
            <a:off x="36850" y="-264200"/>
            <a:ext cx="9103051" cy="5356294"/>
            <a:chOff x="36850" y="-264200"/>
            <a:chExt cx="9103051" cy="5356294"/>
          </a:xfrm>
        </p:grpSpPr>
        <p:sp>
          <p:nvSpPr>
            <p:cNvPr id="236" name="Google Shape;236;p22"/>
            <p:cNvSpPr/>
            <p:nvPr/>
          </p:nvSpPr>
          <p:spPr>
            <a:xfrm rot="1677186">
              <a:off x="7476179" y="71932"/>
              <a:ext cx="1600645" cy="666336"/>
            </a:xfrm>
            <a:prstGeom prst="triangle">
              <a:avLst>
                <a:gd fmla="val 7729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2"/>
            <p:cNvSpPr/>
            <p:nvPr/>
          </p:nvSpPr>
          <p:spPr>
            <a:xfrm flipH="1">
              <a:off x="324000" y="324000"/>
              <a:ext cx="8502600" cy="4495500"/>
            </a:xfrm>
            <a:prstGeom prst="flowChartPunchedCard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8" name="Google Shape;238;p22"/>
            <p:cNvGrpSpPr/>
            <p:nvPr/>
          </p:nvGrpSpPr>
          <p:grpSpPr>
            <a:xfrm rot="10800000">
              <a:off x="5282495" y="238092"/>
              <a:ext cx="352548" cy="171819"/>
              <a:chOff x="4791775" y="1877500"/>
              <a:chExt cx="66725" cy="36975"/>
            </a:xfrm>
          </p:grpSpPr>
          <p:sp>
            <p:nvSpPr>
              <p:cNvPr id="239" name="Google Shape;239;p22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22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1" name="Google Shape;241;p22"/>
            <p:cNvGrpSpPr/>
            <p:nvPr/>
          </p:nvGrpSpPr>
          <p:grpSpPr>
            <a:xfrm>
              <a:off x="3211820" y="4733592"/>
              <a:ext cx="352548" cy="171819"/>
              <a:chOff x="4791775" y="1877500"/>
              <a:chExt cx="66725" cy="36975"/>
            </a:xfrm>
          </p:grpSpPr>
          <p:sp>
            <p:nvSpPr>
              <p:cNvPr id="242" name="Google Shape;242;p22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22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44" name="Google Shape;244;p22"/>
            <p:cNvSpPr/>
            <p:nvPr/>
          </p:nvSpPr>
          <p:spPr>
            <a:xfrm rot="-1143789">
              <a:off x="102379" y="156251"/>
              <a:ext cx="574952" cy="497686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2"/>
            <p:cNvSpPr/>
            <p:nvPr/>
          </p:nvSpPr>
          <p:spPr>
            <a:xfrm rot="1242158">
              <a:off x="8495554" y="4508897"/>
              <a:ext cx="574911" cy="497651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6" name="Google Shape;246;p22"/>
          <p:cNvSpPr txBox="1"/>
          <p:nvPr/>
        </p:nvSpPr>
        <p:spPr>
          <a:xfrm>
            <a:off x="1522826" y="513543"/>
            <a:ext cx="61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Exploratory Data Analysis (EDA) - Visualization </a:t>
            </a:r>
            <a:endParaRPr b="1" sz="2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47" name="Google Shape;247;p22"/>
          <p:cNvSpPr txBox="1"/>
          <p:nvPr/>
        </p:nvSpPr>
        <p:spPr>
          <a:xfrm>
            <a:off x="838375" y="2697607"/>
            <a:ext cx="2667300" cy="20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Used to visualize relationships between launch characteristics and landing success (Class = 0 for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unsuccessful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landing; Class = 1 for successful landing).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aleway"/>
              <a:buChar char="●"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Flight N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umber vs Launch Site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aleway"/>
              <a:buChar char="●"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Payload Mass vs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Launch Site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aleway"/>
              <a:buChar char="●"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Flight Number vs Orbit Type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aleway"/>
              <a:buChar char="●"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Payload Mass vs Orbit Type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48" name="Google Shape;248;p22"/>
          <p:cNvSpPr txBox="1"/>
          <p:nvPr/>
        </p:nvSpPr>
        <p:spPr>
          <a:xfrm>
            <a:off x="924480" y="1745935"/>
            <a:ext cx="710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0</a:t>
            </a:r>
            <a:r>
              <a:rPr b="1" lang="en-GB" sz="28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1</a:t>
            </a:r>
            <a:endParaRPr b="1" sz="28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49" name="Google Shape;249;p22"/>
          <p:cNvSpPr txBox="1"/>
          <p:nvPr/>
        </p:nvSpPr>
        <p:spPr>
          <a:xfrm>
            <a:off x="743726" y="1196980"/>
            <a:ext cx="2856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Scatter Plots</a:t>
            </a:r>
            <a:endParaRPr sz="1300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250" name="Google Shape;25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3399" y="1650636"/>
            <a:ext cx="877253" cy="877253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2"/>
          <p:cNvSpPr txBox="1"/>
          <p:nvPr/>
        </p:nvSpPr>
        <p:spPr>
          <a:xfrm>
            <a:off x="3380223" y="1745935"/>
            <a:ext cx="709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02</a:t>
            </a:r>
            <a:endParaRPr b="1" sz="28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52" name="Google Shape;252;p22"/>
          <p:cNvSpPr txBox="1"/>
          <p:nvPr/>
        </p:nvSpPr>
        <p:spPr>
          <a:xfrm>
            <a:off x="3196823" y="1196980"/>
            <a:ext cx="2856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Bar Charts</a:t>
            </a:r>
            <a:endParaRPr sz="1300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253" name="Google Shape;25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86553" y="1670796"/>
            <a:ext cx="877140" cy="87714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2"/>
          <p:cNvSpPr txBox="1"/>
          <p:nvPr/>
        </p:nvSpPr>
        <p:spPr>
          <a:xfrm>
            <a:off x="6001023" y="1746886"/>
            <a:ext cx="709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03</a:t>
            </a:r>
            <a:endParaRPr b="1" sz="28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55" name="Google Shape;255;p22"/>
          <p:cNvSpPr txBox="1"/>
          <p:nvPr/>
        </p:nvSpPr>
        <p:spPr>
          <a:xfrm>
            <a:off x="5818100" y="1208461"/>
            <a:ext cx="2856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Line Charts</a:t>
            </a:r>
            <a:endParaRPr sz="1300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256" name="Google Shape;256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07830" y="1655760"/>
            <a:ext cx="877140" cy="86702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2"/>
          <p:cNvSpPr txBox="1"/>
          <p:nvPr/>
        </p:nvSpPr>
        <p:spPr>
          <a:xfrm>
            <a:off x="3419273" y="2697616"/>
            <a:ext cx="2411700" cy="8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Used to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compare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landing success rates across categorical variables,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aleway"/>
              <a:buChar char="●"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Success Rate vs Orbit Type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58" name="Google Shape;258;p22"/>
          <p:cNvSpPr txBox="1"/>
          <p:nvPr/>
        </p:nvSpPr>
        <p:spPr>
          <a:xfrm>
            <a:off x="5912750" y="2697607"/>
            <a:ext cx="2667300" cy="8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Used to analyse changes and trends in landing success over time.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aleway"/>
              <a:buChar char="●"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Year vs Landing Success Rate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59" name="Google Shape;259;p22"/>
          <p:cNvSpPr txBox="1"/>
          <p:nvPr/>
        </p:nvSpPr>
        <p:spPr>
          <a:xfrm>
            <a:off x="5261279" y="4420800"/>
            <a:ext cx="3332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 u="sng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 URL of My EDA Visualization Notebook</a:t>
            </a:r>
            <a:endParaRPr b="1" sz="1100" u="sng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4" name="Google Shape;264;p23"/>
          <p:cNvGrpSpPr/>
          <p:nvPr/>
        </p:nvGrpSpPr>
        <p:grpSpPr>
          <a:xfrm>
            <a:off x="36850" y="-264200"/>
            <a:ext cx="9103051" cy="5356294"/>
            <a:chOff x="36850" y="-264200"/>
            <a:chExt cx="9103051" cy="5356294"/>
          </a:xfrm>
        </p:grpSpPr>
        <p:sp>
          <p:nvSpPr>
            <p:cNvPr id="265" name="Google Shape;265;p23"/>
            <p:cNvSpPr/>
            <p:nvPr/>
          </p:nvSpPr>
          <p:spPr>
            <a:xfrm rot="1677186">
              <a:off x="7476179" y="71932"/>
              <a:ext cx="1600645" cy="666336"/>
            </a:xfrm>
            <a:prstGeom prst="triangle">
              <a:avLst>
                <a:gd fmla="val 7729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3"/>
            <p:cNvSpPr/>
            <p:nvPr/>
          </p:nvSpPr>
          <p:spPr>
            <a:xfrm flipH="1">
              <a:off x="324000" y="324000"/>
              <a:ext cx="8502600" cy="4495500"/>
            </a:xfrm>
            <a:prstGeom prst="flowChartPunchedCard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7" name="Google Shape;267;p23"/>
            <p:cNvGrpSpPr/>
            <p:nvPr/>
          </p:nvGrpSpPr>
          <p:grpSpPr>
            <a:xfrm rot="10800000">
              <a:off x="5282495" y="238092"/>
              <a:ext cx="352548" cy="171819"/>
              <a:chOff x="4791775" y="1877500"/>
              <a:chExt cx="66725" cy="36975"/>
            </a:xfrm>
          </p:grpSpPr>
          <p:sp>
            <p:nvSpPr>
              <p:cNvPr id="268" name="Google Shape;268;p23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23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0" name="Google Shape;270;p23"/>
            <p:cNvGrpSpPr/>
            <p:nvPr/>
          </p:nvGrpSpPr>
          <p:grpSpPr>
            <a:xfrm>
              <a:off x="3211820" y="4733592"/>
              <a:ext cx="352548" cy="171819"/>
              <a:chOff x="4791775" y="1877500"/>
              <a:chExt cx="66725" cy="36975"/>
            </a:xfrm>
          </p:grpSpPr>
          <p:sp>
            <p:nvSpPr>
              <p:cNvPr id="271" name="Google Shape;271;p23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23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73" name="Google Shape;273;p23"/>
            <p:cNvSpPr/>
            <p:nvPr/>
          </p:nvSpPr>
          <p:spPr>
            <a:xfrm rot="-1143789">
              <a:off x="102379" y="156251"/>
              <a:ext cx="574952" cy="497686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3"/>
            <p:cNvSpPr/>
            <p:nvPr/>
          </p:nvSpPr>
          <p:spPr>
            <a:xfrm rot="1242158">
              <a:off x="8495554" y="4508897"/>
              <a:ext cx="574911" cy="497651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5" name="Google Shape;275;p23"/>
          <p:cNvSpPr txBox="1"/>
          <p:nvPr/>
        </p:nvSpPr>
        <p:spPr>
          <a:xfrm>
            <a:off x="1522826" y="568428"/>
            <a:ext cx="61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Exploratory Data Analysis (EDA) - SQL </a:t>
            </a:r>
            <a:endParaRPr b="1" sz="2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76" name="Google Shape;276;p23"/>
          <p:cNvSpPr txBox="1"/>
          <p:nvPr/>
        </p:nvSpPr>
        <p:spPr>
          <a:xfrm>
            <a:off x="324000" y="4420800"/>
            <a:ext cx="3332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 u="sng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 URL of My EDA SQL Notebook</a:t>
            </a:r>
            <a:endParaRPr b="1" sz="1100" u="sng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77" name="Google Shape;277;p23"/>
          <p:cNvSpPr txBox="1"/>
          <p:nvPr/>
        </p:nvSpPr>
        <p:spPr>
          <a:xfrm>
            <a:off x="527900" y="1229094"/>
            <a:ext cx="7891500" cy="28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999999"/>
                </a:solidFill>
                <a:latin typeface="Raleway"/>
                <a:ea typeface="Raleway"/>
                <a:cs typeface="Raleway"/>
                <a:sym typeface="Raleway"/>
              </a:rPr>
              <a:t>To extract key insights about the </a:t>
            </a:r>
            <a:r>
              <a:rPr b="1" lang="en-GB" sz="12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SpaceX</a:t>
            </a:r>
            <a:r>
              <a:rPr lang="en-GB" sz="12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GB" sz="1200">
                <a:solidFill>
                  <a:srgbClr val="999999"/>
                </a:solidFill>
                <a:latin typeface="Raleway"/>
                <a:ea typeface="Raleway"/>
                <a:cs typeface="Raleway"/>
                <a:sym typeface="Raleway"/>
              </a:rPr>
              <a:t>launch dataset, multiple SQL queries were performed: </a:t>
            </a:r>
            <a:endParaRPr sz="1200">
              <a:solidFill>
                <a:srgbClr val="999999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aleway"/>
              <a:buChar char="●"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Display the names of the unique launch sites  in the space mission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aleway"/>
              <a:buChar char="●"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Display 5 records where launch sites begin with the string 'CCA'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aleway"/>
              <a:buChar char="●"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Display the total payload mass carried by boosters launched by NASA (CRS)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aleway"/>
              <a:buChar char="●"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Display average payload mass carried by booster version F9 v1.1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aleway"/>
              <a:buChar char="●"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List the date when the first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successful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landing outcome in ground pad was achieved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aleway"/>
              <a:buChar char="●"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List the names of the boosters which have success in drone ship and have payload mass greater than 4000 but less than 6000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aleway"/>
              <a:buChar char="●"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List the total number of successful and failure mission outcomes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aleway"/>
              <a:buChar char="●"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List the names of the boosters which have carried the maximum payload mass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aleway"/>
              <a:buChar char="●"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List the failed landing outcomes in drone ship, their booster versions, and launch site names in 2015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aleway"/>
              <a:buChar char="●"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Rank the count of landing outcomes such as Failure (drone ship) or Success (ground pad) between the date 2010-06-04 and 2017-03-20, in descending order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" name="Google Shape;282;p24"/>
          <p:cNvGrpSpPr/>
          <p:nvPr/>
        </p:nvGrpSpPr>
        <p:grpSpPr>
          <a:xfrm>
            <a:off x="36850" y="-264200"/>
            <a:ext cx="9103051" cy="5356294"/>
            <a:chOff x="36850" y="-264200"/>
            <a:chExt cx="9103051" cy="5356294"/>
          </a:xfrm>
        </p:grpSpPr>
        <p:sp>
          <p:nvSpPr>
            <p:cNvPr id="283" name="Google Shape;283;p24"/>
            <p:cNvSpPr/>
            <p:nvPr/>
          </p:nvSpPr>
          <p:spPr>
            <a:xfrm rot="1677186">
              <a:off x="7476179" y="71932"/>
              <a:ext cx="1600645" cy="666336"/>
            </a:xfrm>
            <a:prstGeom prst="triangle">
              <a:avLst>
                <a:gd fmla="val 7729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4"/>
            <p:cNvSpPr/>
            <p:nvPr/>
          </p:nvSpPr>
          <p:spPr>
            <a:xfrm flipH="1">
              <a:off x="324000" y="324000"/>
              <a:ext cx="8502600" cy="4495500"/>
            </a:xfrm>
            <a:prstGeom prst="flowChartPunchedCard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5" name="Google Shape;285;p24"/>
            <p:cNvGrpSpPr/>
            <p:nvPr/>
          </p:nvGrpSpPr>
          <p:grpSpPr>
            <a:xfrm rot="10800000">
              <a:off x="5282495" y="238092"/>
              <a:ext cx="352548" cy="171819"/>
              <a:chOff x="4791775" y="1877500"/>
              <a:chExt cx="66725" cy="36975"/>
            </a:xfrm>
          </p:grpSpPr>
          <p:sp>
            <p:nvSpPr>
              <p:cNvPr id="286" name="Google Shape;286;p24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24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8" name="Google Shape;288;p24"/>
            <p:cNvGrpSpPr/>
            <p:nvPr/>
          </p:nvGrpSpPr>
          <p:grpSpPr>
            <a:xfrm>
              <a:off x="3211820" y="4733592"/>
              <a:ext cx="352548" cy="171819"/>
              <a:chOff x="4791775" y="1877500"/>
              <a:chExt cx="66725" cy="36975"/>
            </a:xfrm>
          </p:grpSpPr>
          <p:sp>
            <p:nvSpPr>
              <p:cNvPr id="289" name="Google Shape;289;p24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24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91" name="Google Shape;291;p24"/>
            <p:cNvSpPr/>
            <p:nvPr/>
          </p:nvSpPr>
          <p:spPr>
            <a:xfrm rot="-1143789">
              <a:off x="102379" y="156251"/>
              <a:ext cx="574952" cy="497686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4"/>
            <p:cNvSpPr/>
            <p:nvPr/>
          </p:nvSpPr>
          <p:spPr>
            <a:xfrm rot="1242158">
              <a:off x="8495554" y="4508897"/>
              <a:ext cx="574911" cy="497651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3" name="Google Shape;293;p24"/>
          <p:cNvSpPr txBox="1"/>
          <p:nvPr/>
        </p:nvSpPr>
        <p:spPr>
          <a:xfrm>
            <a:off x="1522826" y="369767"/>
            <a:ext cx="61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Geospatial Analysis - </a:t>
            </a: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Folium </a:t>
            </a: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Interactive Map </a:t>
            </a:r>
            <a:endParaRPr b="1" sz="2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94" name="Google Shape;294;p24"/>
          <p:cNvSpPr txBox="1"/>
          <p:nvPr/>
        </p:nvSpPr>
        <p:spPr>
          <a:xfrm>
            <a:off x="527900" y="800435"/>
            <a:ext cx="7891500" cy="40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999999"/>
                </a:solidFill>
                <a:latin typeface="Raleway"/>
                <a:ea typeface="Raleway"/>
                <a:cs typeface="Raleway"/>
                <a:sym typeface="Raleway"/>
              </a:rPr>
              <a:t>The following steps were taken to visualize the launch data on the map: </a:t>
            </a:r>
            <a:endParaRPr sz="1200">
              <a:solidFill>
                <a:srgbClr val="999999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AB40"/>
              </a:buClr>
              <a:buSzPts val="1300"/>
              <a:buFont typeface="Raleway"/>
              <a:buAutoNum type="arabicPeriod"/>
            </a:pP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Mark all launch sites</a:t>
            </a: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b="1" sz="13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aleway"/>
              <a:buAutoNum type="alphaLcPeriod"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Initialize the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interactive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map using </a:t>
            </a:r>
            <a:r>
              <a:rPr b="1" lang="en-GB" sz="1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folium.Map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as the base map for displaying </a:t>
            </a: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SpaceX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launch locations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aleway"/>
              <a:buAutoNum type="alphaLcPeriod"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Add </a:t>
            </a:r>
            <a:r>
              <a:rPr b="1" lang="en-GB" sz="1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folium.Circle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objects to highlight the geographic positions of launch sites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aleway"/>
              <a:buAutoNum type="alphaLcPeriod"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Add </a:t>
            </a:r>
            <a:r>
              <a:rPr b="1" lang="en-GB" sz="1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folium.map.Marker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objects with </a:t>
            </a:r>
            <a:r>
              <a:rPr b="1" lang="en-GB" sz="1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DivIcon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labels to display launch site names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aleway"/>
              <a:buAutoNum type="alphaLcPeriod"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Add </a:t>
            </a: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folium.Popup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objects to display launch site names when users click on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the locations</a:t>
            </a:r>
            <a:b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Raleway"/>
              <a:buAutoNum type="arabicPeriod"/>
            </a:pP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Mark successful and failed launches for each site</a:t>
            </a: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b="1" sz="13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aleway"/>
              <a:buAutoNum type="alphaLcPeriod"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Add </a:t>
            </a: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MarkerCluster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objects to group multiple launches at the same location and improve map readability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aleway"/>
              <a:buAutoNum type="alphaLcPeriod"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Add </a:t>
            </a: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folium,map.Marker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objects with</a:t>
            </a: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 folium.Icon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colours: green for successful landings (Class = 1) and red for unsuccessful landings (Class = 0) to visually distinguish landing outcome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</a:t>
            </a:r>
            <a:b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1300"/>
              <a:buFont typeface="Raleway"/>
              <a:buAutoNum type="arabicPeriod"/>
            </a:pP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Visualize distances between launch sites and nearby locations</a:t>
            </a:r>
            <a:endParaRPr b="1" sz="13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aleway"/>
              <a:buAutoNum type="alphaLcPeriod"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Add </a:t>
            </a:r>
            <a:r>
              <a:rPr b="1" lang="en-GB" sz="1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folium.Marker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objects with </a:t>
            </a:r>
            <a:r>
              <a:rPr b="1" lang="en-GB" sz="1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DivIcon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labels to display calculated distances between launch sites and nearby locations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aleway"/>
              <a:buAutoNum type="alphaLcPeriod"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Add </a:t>
            </a: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folium.PolyLine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objects to draw connections between launch sites and nearby locations</a:t>
            </a:r>
            <a:endParaRPr b="1" sz="13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95" name="Google Shape;295;p24"/>
          <p:cNvSpPr txBox="1"/>
          <p:nvPr/>
        </p:nvSpPr>
        <p:spPr>
          <a:xfrm>
            <a:off x="4818611" y="1123354"/>
            <a:ext cx="4001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 u="sng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 URL of My Interactive Map (Folium) Notebook</a:t>
            </a:r>
            <a:endParaRPr b="1" sz="1100" u="sng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oogle Shape;300;p25"/>
          <p:cNvGrpSpPr/>
          <p:nvPr/>
        </p:nvGrpSpPr>
        <p:grpSpPr>
          <a:xfrm>
            <a:off x="36850" y="-264200"/>
            <a:ext cx="9103051" cy="5356294"/>
            <a:chOff x="36850" y="-264200"/>
            <a:chExt cx="9103051" cy="5356294"/>
          </a:xfrm>
        </p:grpSpPr>
        <p:sp>
          <p:nvSpPr>
            <p:cNvPr id="301" name="Google Shape;301;p25"/>
            <p:cNvSpPr/>
            <p:nvPr/>
          </p:nvSpPr>
          <p:spPr>
            <a:xfrm rot="1677186">
              <a:off x="7476179" y="71932"/>
              <a:ext cx="1600645" cy="666336"/>
            </a:xfrm>
            <a:prstGeom prst="triangle">
              <a:avLst>
                <a:gd fmla="val 7729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5"/>
            <p:cNvSpPr/>
            <p:nvPr/>
          </p:nvSpPr>
          <p:spPr>
            <a:xfrm flipH="1">
              <a:off x="324000" y="324000"/>
              <a:ext cx="8502600" cy="4495500"/>
            </a:xfrm>
            <a:prstGeom prst="flowChartPunchedCard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03" name="Google Shape;303;p25"/>
            <p:cNvGrpSpPr/>
            <p:nvPr/>
          </p:nvGrpSpPr>
          <p:grpSpPr>
            <a:xfrm rot="10800000">
              <a:off x="5282495" y="238092"/>
              <a:ext cx="352548" cy="171819"/>
              <a:chOff x="4791775" y="1877500"/>
              <a:chExt cx="66725" cy="36975"/>
            </a:xfrm>
          </p:grpSpPr>
          <p:sp>
            <p:nvSpPr>
              <p:cNvPr id="304" name="Google Shape;304;p25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" name="Google Shape;305;p25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6" name="Google Shape;306;p25"/>
            <p:cNvGrpSpPr/>
            <p:nvPr/>
          </p:nvGrpSpPr>
          <p:grpSpPr>
            <a:xfrm>
              <a:off x="3211820" y="4733592"/>
              <a:ext cx="352548" cy="171819"/>
              <a:chOff x="4791775" y="1877500"/>
              <a:chExt cx="66725" cy="36975"/>
            </a:xfrm>
          </p:grpSpPr>
          <p:sp>
            <p:nvSpPr>
              <p:cNvPr id="307" name="Google Shape;307;p25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" name="Google Shape;308;p25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09" name="Google Shape;309;p25"/>
            <p:cNvSpPr/>
            <p:nvPr/>
          </p:nvSpPr>
          <p:spPr>
            <a:xfrm rot="-1143789">
              <a:off x="102379" y="156251"/>
              <a:ext cx="574952" cy="497686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5"/>
            <p:cNvSpPr/>
            <p:nvPr/>
          </p:nvSpPr>
          <p:spPr>
            <a:xfrm rot="1242158">
              <a:off x="8495554" y="4508897"/>
              <a:ext cx="574911" cy="497651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1" name="Google Shape;311;p25"/>
          <p:cNvSpPr txBox="1"/>
          <p:nvPr/>
        </p:nvSpPr>
        <p:spPr>
          <a:xfrm>
            <a:off x="1522826" y="446237"/>
            <a:ext cx="61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Interactive Dashboard</a:t>
            </a: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 - Plotly Dash</a:t>
            </a:r>
            <a:endParaRPr b="1" sz="2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12" name="Google Shape;312;p25"/>
          <p:cNvSpPr txBox="1"/>
          <p:nvPr/>
        </p:nvSpPr>
        <p:spPr>
          <a:xfrm>
            <a:off x="527900" y="998024"/>
            <a:ext cx="7891500" cy="3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999999"/>
                </a:solidFill>
                <a:latin typeface="Raleway"/>
                <a:ea typeface="Raleway"/>
                <a:cs typeface="Raleway"/>
                <a:sym typeface="Raleway"/>
              </a:rPr>
              <a:t>The following plots and interactive components were added to the dashboard to analyze</a:t>
            </a:r>
            <a:br>
              <a:rPr lang="en-GB" sz="1200">
                <a:solidFill>
                  <a:srgbClr val="999999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1" lang="en-GB" sz="12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SpaceX</a:t>
            </a:r>
            <a:r>
              <a:rPr lang="en-GB" sz="1200">
                <a:solidFill>
                  <a:srgbClr val="999999"/>
                </a:solidFill>
                <a:latin typeface="Raleway"/>
                <a:ea typeface="Raleway"/>
                <a:cs typeface="Raleway"/>
                <a:sym typeface="Raleway"/>
              </a:rPr>
              <a:t> launch records:</a:t>
            </a:r>
            <a:endParaRPr sz="1200">
              <a:solidFill>
                <a:srgbClr val="999999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AB40"/>
              </a:buClr>
              <a:buSzPts val="1300"/>
              <a:buFont typeface="Raleway"/>
              <a:buAutoNum type="arabicPeriod"/>
            </a:pP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Launch Site Selection</a:t>
            </a: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Added a </a:t>
            </a:r>
            <a:r>
              <a:rPr b="1" lang="en-GB" sz="1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dcc.Dropdown</a:t>
            </a:r>
            <a:r>
              <a:rPr b="1" lang="en-GB" sz="1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component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to allow users to select a specific launch site or view all sites. This enables users to dynamically filter dashboard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results based on launch site selection.</a:t>
            </a:r>
            <a:b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1300"/>
              <a:buFont typeface="Raleway"/>
              <a:buAutoNum type="arabicPeriod"/>
            </a:pP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Success Launch Distribution</a:t>
            </a: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dded a </a:t>
            </a: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plotly.express.pie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pie chart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to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display launch success distribution across different launch sites. This provides a visual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comparison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of launch success performance between sites.</a:t>
            </a:r>
            <a:b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1300"/>
              <a:buFont typeface="Raleway"/>
              <a:buAutoNum type="arabicPeriod"/>
            </a:pP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Payload Range Filtering</a:t>
            </a: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Added a </a:t>
            </a: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dcc.RangeSlider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component to filter launches based on payload mass range. This allows users to explore launch outcomes for different payload sizes.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13" name="Google Shape;313;p25"/>
          <p:cNvSpPr txBox="1"/>
          <p:nvPr/>
        </p:nvSpPr>
        <p:spPr>
          <a:xfrm>
            <a:off x="4615917" y="1366068"/>
            <a:ext cx="4209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 u="sng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 URL of My Interactive Dashboard (Plotly Dash) Notebook</a:t>
            </a:r>
            <a:endParaRPr b="1" sz="1100" u="sng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8" name="Google Shape;318;p26"/>
          <p:cNvGrpSpPr/>
          <p:nvPr/>
        </p:nvGrpSpPr>
        <p:grpSpPr>
          <a:xfrm>
            <a:off x="36850" y="-264200"/>
            <a:ext cx="9103051" cy="5356294"/>
            <a:chOff x="36850" y="-264200"/>
            <a:chExt cx="9103051" cy="5356294"/>
          </a:xfrm>
        </p:grpSpPr>
        <p:sp>
          <p:nvSpPr>
            <p:cNvPr id="319" name="Google Shape;319;p26"/>
            <p:cNvSpPr/>
            <p:nvPr/>
          </p:nvSpPr>
          <p:spPr>
            <a:xfrm rot="1677186">
              <a:off x="7476179" y="71932"/>
              <a:ext cx="1600645" cy="666336"/>
            </a:xfrm>
            <a:prstGeom prst="triangle">
              <a:avLst>
                <a:gd fmla="val 7729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6"/>
            <p:cNvSpPr/>
            <p:nvPr/>
          </p:nvSpPr>
          <p:spPr>
            <a:xfrm flipH="1">
              <a:off x="324000" y="324000"/>
              <a:ext cx="8502600" cy="4495500"/>
            </a:xfrm>
            <a:prstGeom prst="flowChartPunchedCard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1" name="Google Shape;321;p26"/>
            <p:cNvGrpSpPr/>
            <p:nvPr/>
          </p:nvGrpSpPr>
          <p:grpSpPr>
            <a:xfrm rot="10800000">
              <a:off x="5282495" y="238092"/>
              <a:ext cx="352548" cy="171819"/>
              <a:chOff x="4791775" y="1877500"/>
              <a:chExt cx="66725" cy="36975"/>
            </a:xfrm>
          </p:grpSpPr>
          <p:sp>
            <p:nvSpPr>
              <p:cNvPr id="322" name="Google Shape;322;p26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" name="Google Shape;323;p26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4" name="Google Shape;324;p26"/>
            <p:cNvGrpSpPr/>
            <p:nvPr/>
          </p:nvGrpSpPr>
          <p:grpSpPr>
            <a:xfrm>
              <a:off x="3211820" y="4733592"/>
              <a:ext cx="352548" cy="171819"/>
              <a:chOff x="4791775" y="1877500"/>
              <a:chExt cx="66725" cy="36975"/>
            </a:xfrm>
          </p:grpSpPr>
          <p:sp>
            <p:nvSpPr>
              <p:cNvPr id="325" name="Google Shape;325;p26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" name="Google Shape;326;p26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27" name="Google Shape;327;p26"/>
            <p:cNvSpPr/>
            <p:nvPr/>
          </p:nvSpPr>
          <p:spPr>
            <a:xfrm rot="-1143789">
              <a:off x="102379" y="156251"/>
              <a:ext cx="574952" cy="497686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6"/>
            <p:cNvSpPr/>
            <p:nvPr/>
          </p:nvSpPr>
          <p:spPr>
            <a:xfrm rot="1242158">
              <a:off x="8495554" y="4508897"/>
              <a:ext cx="574911" cy="497651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9" name="Google Shape;329;p26"/>
          <p:cNvSpPr txBox="1"/>
          <p:nvPr/>
        </p:nvSpPr>
        <p:spPr>
          <a:xfrm>
            <a:off x="1522826" y="424800"/>
            <a:ext cx="61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Interactive Dashboard - Plotly Dash</a:t>
            </a:r>
            <a:endParaRPr b="1" sz="2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30" name="Google Shape;330;p26"/>
          <p:cNvSpPr txBox="1"/>
          <p:nvPr/>
        </p:nvSpPr>
        <p:spPr>
          <a:xfrm>
            <a:off x="527900" y="1029012"/>
            <a:ext cx="7891500" cy="23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   4.     </a:t>
            </a:r>
            <a:r>
              <a:rPr b="1" lang="en-GB" sz="13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Payload Mass vs Launch Success</a:t>
            </a:r>
            <a:br>
              <a:rPr b="1" lang="en-GB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</a:br>
            <a:br>
              <a:rPr b="1" lang="en-GB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1" lang="en-GB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	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Added a </a:t>
            </a:r>
            <a:r>
              <a:rPr b="1" lang="en-GB" sz="1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plotly.express.scatter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plot to visualize the relationship between payload mass and landing</a:t>
            </a:r>
            <a:b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	success (Class). This helps to identify patterns between payload mass, launch success, and booster version</a:t>
            </a:r>
            <a:b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	categories.</a:t>
            </a:r>
            <a:b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  5.      </a:t>
            </a: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Interactive Dashboard Updates</a:t>
            </a:r>
            <a:endParaRPr b="1" sz="13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Added </a:t>
            </a: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Dash callback functions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to update charts based on dropdown and slider inputs. This allows users to</a:t>
            </a:r>
            <a:b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	dynamically explore different launch sites and payload ranges without generating separate charts.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31" name="Google Shape;331;p26"/>
          <p:cNvSpPr txBox="1"/>
          <p:nvPr/>
        </p:nvSpPr>
        <p:spPr>
          <a:xfrm>
            <a:off x="4615917" y="937957"/>
            <a:ext cx="4209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 u="sng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 URL of My Interactive Dashboard (Plotly Dash) Notebook</a:t>
            </a:r>
            <a:endParaRPr b="1" sz="1100" u="sng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oogle Shape;336;p27"/>
          <p:cNvGrpSpPr/>
          <p:nvPr/>
        </p:nvGrpSpPr>
        <p:grpSpPr>
          <a:xfrm>
            <a:off x="36850" y="-264200"/>
            <a:ext cx="9103051" cy="5356294"/>
            <a:chOff x="36850" y="-264200"/>
            <a:chExt cx="9103051" cy="5356294"/>
          </a:xfrm>
        </p:grpSpPr>
        <p:sp>
          <p:nvSpPr>
            <p:cNvPr id="337" name="Google Shape;337;p27"/>
            <p:cNvSpPr/>
            <p:nvPr/>
          </p:nvSpPr>
          <p:spPr>
            <a:xfrm rot="1677186">
              <a:off x="7476179" y="71932"/>
              <a:ext cx="1600645" cy="666336"/>
            </a:xfrm>
            <a:prstGeom prst="triangle">
              <a:avLst>
                <a:gd fmla="val 7729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7"/>
            <p:cNvSpPr/>
            <p:nvPr/>
          </p:nvSpPr>
          <p:spPr>
            <a:xfrm flipH="1">
              <a:off x="324000" y="324000"/>
              <a:ext cx="8502600" cy="4495500"/>
            </a:xfrm>
            <a:prstGeom prst="flowChartPunchedCard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39" name="Google Shape;339;p27"/>
            <p:cNvGrpSpPr/>
            <p:nvPr/>
          </p:nvGrpSpPr>
          <p:grpSpPr>
            <a:xfrm rot="10800000">
              <a:off x="5282495" y="238092"/>
              <a:ext cx="352548" cy="171819"/>
              <a:chOff x="4791775" y="1877500"/>
              <a:chExt cx="66725" cy="36975"/>
            </a:xfrm>
          </p:grpSpPr>
          <p:sp>
            <p:nvSpPr>
              <p:cNvPr id="340" name="Google Shape;340;p27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p27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2" name="Google Shape;342;p27"/>
            <p:cNvGrpSpPr/>
            <p:nvPr/>
          </p:nvGrpSpPr>
          <p:grpSpPr>
            <a:xfrm>
              <a:off x="3211820" y="4733592"/>
              <a:ext cx="352548" cy="171819"/>
              <a:chOff x="4791775" y="1877500"/>
              <a:chExt cx="66725" cy="36975"/>
            </a:xfrm>
          </p:grpSpPr>
          <p:sp>
            <p:nvSpPr>
              <p:cNvPr id="343" name="Google Shape;343;p27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" name="Google Shape;344;p27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45" name="Google Shape;345;p27"/>
            <p:cNvSpPr/>
            <p:nvPr/>
          </p:nvSpPr>
          <p:spPr>
            <a:xfrm rot="-1143789">
              <a:off x="102379" y="156251"/>
              <a:ext cx="574952" cy="497686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7"/>
            <p:cNvSpPr/>
            <p:nvPr/>
          </p:nvSpPr>
          <p:spPr>
            <a:xfrm rot="1242158">
              <a:off x="8495554" y="4508897"/>
              <a:ext cx="574911" cy="497651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47" name="Google Shape;34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250" y="1849104"/>
            <a:ext cx="7847270" cy="270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7"/>
          <p:cNvSpPr txBox="1"/>
          <p:nvPr/>
        </p:nvSpPr>
        <p:spPr>
          <a:xfrm>
            <a:off x="879176" y="1081782"/>
            <a:ext cx="74184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999999"/>
                </a:solidFill>
                <a:latin typeface="Raleway"/>
                <a:ea typeface="Raleway"/>
                <a:cs typeface="Raleway"/>
                <a:sym typeface="Raleway"/>
              </a:rPr>
              <a:t>The following steps were performed to develop, optimize, evaluate, and select the best performing classification model:</a:t>
            </a:r>
            <a:endParaRPr sz="1200">
              <a:solidFill>
                <a:srgbClr val="99999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49" name="Google Shape;349;p27"/>
          <p:cNvSpPr txBox="1"/>
          <p:nvPr/>
        </p:nvSpPr>
        <p:spPr>
          <a:xfrm>
            <a:off x="1140476" y="579404"/>
            <a:ext cx="6895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Predictive Analysis - Classification</a:t>
            </a:r>
            <a:endParaRPr b="1" sz="2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50" name="Google Shape;350;p27"/>
          <p:cNvSpPr txBox="1"/>
          <p:nvPr/>
        </p:nvSpPr>
        <p:spPr>
          <a:xfrm>
            <a:off x="3153219" y="2258912"/>
            <a:ext cx="3333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Flowchart (See Slide 54 Appendix for full view):</a:t>
            </a:r>
            <a:endParaRPr b="1" sz="11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51" name="Google Shape;351;p27"/>
          <p:cNvSpPr txBox="1"/>
          <p:nvPr/>
        </p:nvSpPr>
        <p:spPr>
          <a:xfrm>
            <a:off x="322875" y="4420800"/>
            <a:ext cx="4507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 u="sng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 URL of My Predictive Analysis (Classification) Notebook</a:t>
            </a:r>
            <a:endParaRPr b="1" sz="1100" u="sng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6" name="Google Shape;356;p28"/>
          <p:cNvGrpSpPr/>
          <p:nvPr/>
        </p:nvGrpSpPr>
        <p:grpSpPr>
          <a:xfrm>
            <a:off x="36850" y="-264200"/>
            <a:ext cx="9103051" cy="5356294"/>
            <a:chOff x="36850" y="-264200"/>
            <a:chExt cx="9103051" cy="5356294"/>
          </a:xfrm>
        </p:grpSpPr>
        <p:sp>
          <p:nvSpPr>
            <p:cNvPr id="357" name="Google Shape;357;p28"/>
            <p:cNvSpPr/>
            <p:nvPr/>
          </p:nvSpPr>
          <p:spPr>
            <a:xfrm rot="1677186">
              <a:off x="7476179" y="71932"/>
              <a:ext cx="1600645" cy="666336"/>
            </a:xfrm>
            <a:prstGeom prst="triangle">
              <a:avLst>
                <a:gd fmla="val 7729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8"/>
            <p:cNvSpPr/>
            <p:nvPr/>
          </p:nvSpPr>
          <p:spPr>
            <a:xfrm flipH="1">
              <a:off x="324000" y="324000"/>
              <a:ext cx="8502600" cy="4495500"/>
            </a:xfrm>
            <a:prstGeom prst="flowChartPunchedCard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9" name="Google Shape;359;p28"/>
            <p:cNvGrpSpPr/>
            <p:nvPr/>
          </p:nvGrpSpPr>
          <p:grpSpPr>
            <a:xfrm rot="10800000">
              <a:off x="5282495" y="238092"/>
              <a:ext cx="352548" cy="171819"/>
              <a:chOff x="4791775" y="1877500"/>
              <a:chExt cx="66725" cy="36975"/>
            </a:xfrm>
          </p:grpSpPr>
          <p:sp>
            <p:nvSpPr>
              <p:cNvPr id="360" name="Google Shape;360;p28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28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2" name="Google Shape;362;p28"/>
            <p:cNvGrpSpPr/>
            <p:nvPr/>
          </p:nvGrpSpPr>
          <p:grpSpPr>
            <a:xfrm>
              <a:off x="3211820" y="4733592"/>
              <a:ext cx="352548" cy="171819"/>
              <a:chOff x="4791775" y="1877500"/>
              <a:chExt cx="66725" cy="36975"/>
            </a:xfrm>
          </p:grpSpPr>
          <p:sp>
            <p:nvSpPr>
              <p:cNvPr id="363" name="Google Shape;363;p28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28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5" name="Google Shape;365;p28"/>
            <p:cNvSpPr/>
            <p:nvPr/>
          </p:nvSpPr>
          <p:spPr>
            <a:xfrm rot="-1143789">
              <a:off x="102379" y="156251"/>
              <a:ext cx="574952" cy="497686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8"/>
            <p:cNvSpPr/>
            <p:nvPr/>
          </p:nvSpPr>
          <p:spPr>
            <a:xfrm rot="1242158">
              <a:off x="8495554" y="4508897"/>
              <a:ext cx="574911" cy="497651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7" name="Google Shape;367;p28"/>
          <p:cNvSpPr txBox="1"/>
          <p:nvPr/>
        </p:nvSpPr>
        <p:spPr>
          <a:xfrm>
            <a:off x="680648" y="957876"/>
            <a:ext cx="3283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Results</a:t>
            </a:r>
            <a:endParaRPr b="1" sz="28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368" name="Google Shape;368;p28" title="Slide 4 - SpaceX Rocke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9725" y="1845668"/>
            <a:ext cx="3628025" cy="18439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8"/>
          <p:cNvSpPr txBox="1"/>
          <p:nvPr/>
        </p:nvSpPr>
        <p:spPr>
          <a:xfrm>
            <a:off x="581839" y="1665218"/>
            <a:ext cx="710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0</a:t>
            </a:r>
            <a:r>
              <a:rPr b="1" lang="en-GB" sz="24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1</a:t>
            </a:r>
            <a:endParaRPr b="1" sz="24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70" name="Google Shape;370;p28"/>
          <p:cNvSpPr txBox="1"/>
          <p:nvPr/>
        </p:nvSpPr>
        <p:spPr>
          <a:xfrm>
            <a:off x="626689" y="2489968"/>
            <a:ext cx="621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02</a:t>
            </a:r>
            <a:endParaRPr b="1" sz="24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71" name="Google Shape;371;p28"/>
          <p:cNvSpPr txBox="1"/>
          <p:nvPr/>
        </p:nvSpPr>
        <p:spPr>
          <a:xfrm>
            <a:off x="582589" y="3315918"/>
            <a:ext cx="709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03</a:t>
            </a:r>
            <a:endParaRPr b="1" sz="24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72" name="Google Shape;372;p28"/>
          <p:cNvSpPr txBox="1"/>
          <p:nvPr/>
        </p:nvSpPr>
        <p:spPr>
          <a:xfrm>
            <a:off x="1193018" y="1741022"/>
            <a:ext cx="3283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Exploratory Data Analysis (EDA)</a:t>
            </a:r>
            <a:endParaRPr b="1" sz="16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73" name="Google Shape;373;p28"/>
          <p:cNvSpPr txBox="1"/>
          <p:nvPr/>
        </p:nvSpPr>
        <p:spPr>
          <a:xfrm>
            <a:off x="1193018" y="2560343"/>
            <a:ext cx="3283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Interactive Analytics</a:t>
            </a:r>
            <a:endParaRPr b="1" sz="16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74" name="Google Shape;374;p28"/>
          <p:cNvSpPr txBox="1"/>
          <p:nvPr/>
        </p:nvSpPr>
        <p:spPr>
          <a:xfrm>
            <a:off x="1193018" y="3402639"/>
            <a:ext cx="4117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Predictive Analysis - Classification</a:t>
            </a:r>
            <a:endParaRPr b="1" sz="16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9" name="Google Shape;379;p29"/>
          <p:cNvGrpSpPr/>
          <p:nvPr/>
        </p:nvGrpSpPr>
        <p:grpSpPr>
          <a:xfrm>
            <a:off x="36850" y="-264200"/>
            <a:ext cx="9103051" cy="5356294"/>
            <a:chOff x="36850" y="-264200"/>
            <a:chExt cx="9103051" cy="5356294"/>
          </a:xfrm>
        </p:grpSpPr>
        <p:sp>
          <p:nvSpPr>
            <p:cNvPr id="380" name="Google Shape;380;p29"/>
            <p:cNvSpPr/>
            <p:nvPr/>
          </p:nvSpPr>
          <p:spPr>
            <a:xfrm rot="1677186">
              <a:off x="7476179" y="71932"/>
              <a:ext cx="1600645" cy="666336"/>
            </a:xfrm>
            <a:prstGeom prst="triangle">
              <a:avLst>
                <a:gd fmla="val 7729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29"/>
            <p:cNvSpPr/>
            <p:nvPr/>
          </p:nvSpPr>
          <p:spPr>
            <a:xfrm flipH="1">
              <a:off x="324000" y="324000"/>
              <a:ext cx="8502600" cy="4495500"/>
            </a:xfrm>
            <a:prstGeom prst="flowChartPunchedCard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82" name="Google Shape;382;p29"/>
            <p:cNvGrpSpPr/>
            <p:nvPr/>
          </p:nvGrpSpPr>
          <p:grpSpPr>
            <a:xfrm rot="10800000">
              <a:off x="5282495" y="238092"/>
              <a:ext cx="352548" cy="171819"/>
              <a:chOff x="4791775" y="1877500"/>
              <a:chExt cx="66725" cy="36975"/>
            </a:xfrm>
          </p:grpSpPr>
          <p:sp>
            <p:nvSpPr>
              <p:cNvPr id="383" name="Google Shape;383;p29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" name="Google Shape;384;p29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5" name="Google Shape;385;p29"/>
            <p:cNvGrpSpPr/>
            <p:nvPr/>
          </p:nvGrpSpPr>
          <p:grpSpPr>
            <a:xfrm>
              <a:off x="3211820" y="4733592"/>
              <a:ext cx="352548" cy="171819"/>
              <a:chOff x="4791775" y="1877500"/>
              <a:chExt cx="66725" cy="36975"/>
            </a:xfrm>
          </p:grpSpPr>
          <p:sp>
            <p:nvSpPr>
              <p:cNvPr id="386" name="Google Shape;386;p29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29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88" name="Google Shape;388;p29"/>
            <p:cNvSpPr/>
            <p:nvPr/>
          </p:nvSpPr>
          <p:spPr>
            <a:xfrm rot="-1143789">
              <a:off x="102379" y="156251"/>
              <a:ext cx="574952" cy="497686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9"/>
            <p:cNvSpPr/>
            <p:nvPr/>
          </p:nvSpPr>
          <p:spPr>
            <a:xfrm rot="1242158">
              <a:off x="8495554" y="4508897"/>
              <a:ext cx="574911" cy="497651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0" name="Google Shape;390;p29"/>
          <p:cNvSpPr txBox="1"/>
          <p:nvPr/>
        </p:nvSpPr>
        <p:spPr>
          <a:xfrm>
            <a:off x="966055" y="1783226"/>
            <a:ext cx="3283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Results</a:t>
            </a:r>
            <a:endParaRPr b="1" sz="28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91" name="Google Shape;391;p29"/>
          <p:cNvSpPr txBox="1"/>
          <p:nvPr/>
        </p:nvSpPr>
        <p:spPr>
          <a:xfrm>
            <a:off x="867246" y="2490568"/>
            <a:ext cx="710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0</a:t>
            </a:r>
            <a:r>
              <a:rPr b="1" lang="en-GB" sz="24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1</a:t>
            </a:r>
            <a:endParaRPr b="1" sz="24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92" name="Google Shape;392;p29"/>
          <p:cNvSpPr txBox="1"/>
          <p:nvPr/>
        </p:nvSpPr>
        <p:spPr>
          <a:xfrm>
            <a:off x="1478425" y="2566375"/>
            <a:ext cx="3283200" cy="5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EDA </a:t>
            </a:r>
            <a:r>
              <a:rPr b="1" lang="en-GB" sz="16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with Visualization</a:t>
            </a:r>
            <a:endParaRPr b="1" sz="16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7" name="Google Shape;397;p30"/>
          <p:cNvGrpSpPr/>
          <p:nvPr/>
        </p:nvGrpSpPr>
        <p:grpSpPr>
          <a:xfrm>
            <a:off x="36850" y="-264200"/>
            <a:ext cx="9103051" cy="5356294"/>
            <a:chOff x="36850" y="-264200"/>
            <a:chExt cx="9103051" cy="5356294"/>
          </a:xfrm>
        </p:grpSpPr>
        <p:sp>
          <p:nvSpPr>
            <p:cNvPr id="398" name="Google Shape;398;p30"/>
            <p:cNvSpPr/>
            <p:nvPr/>
          </p:nvSpPr>
          <p:spPr>
            <a:xfrm rot="1677186">
              <a:off x="7476179" y="71932"/>
              <a:ext cx="1600645" cy="666336"/>
            </a:xfrm>
            <a:prstGeom prst="triangle">
              <a:avLst>
                <a:gd fmla="val 7729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30"/>
            <p:cNvSpPr/>
            <p:nvPr/>
          </p:nvSpPr>
          <p:spPr>
            <a:xfrm flipH="1">
              <a:off x="324000" y="324000"/>
              <a:ext cx="8502600" cy="4495500"/>
            </a:xfrm>
            <a:prstGeom prst="flowChartPunchedCard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00" name="Google Shape;400;p30"/>
            <p:cNvGrpSpPr/>
            <p:nvPr/>
          </p:nvGrpSpPr>
          <p:grpSpPr>
            <a:xfrm rot="10800000">
              <a:off x="5282495" y="238092"/>
              <a:ext cx="352548" cy="171819"/>
              <a:chOff x="4791775" y="1877500"/>
              <a:chExt cx="66725" cy="36975"/>
            </a:xfrm>
          </p:grpSpPr>
          <p:sp>
            <p:nvSpPr>
              <p:cNvPr id="401" name="Google Shape;401;p30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30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3" name="Google Shape;403;p30"/>
            <p:cNvGrpSpPr/>
            <p:nvPr/>
          </p:nvGrpSpPr>
          <p:grpSpPr>
            <a:xfrm>
              <a:off x="3211820" y="4733592"/>
              <a:ext cx="352548" cy="171819"/>
              <a:chOff x="4791775" y="1877500"/>
              <a:chExt cx="66725" cy="36975"/>
            </a:xfrm>
          </p:grpSpPr>
          <p:sp>
            <p:nvSpPr>
              <p:cNvPr id="404" name="Google Shape;404;p30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30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6" name="Google Shape;406;p30"/>
            <p:cNvSpPr/>
            <p:nvPr/>
          </p:nvSpPr>
          <p:spPr>
            <a:xfrm rot="-1143789">
              <a:off x="102379" y="156251"/>
              <a:ext cx="574952" cy="497686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30"/>
            <p:cNvSpPr/>
            <p:nvPr/>
          </p:nvSpPr>
          <p:spPr>
            <a:xfrm rot="1242158">
              <a:off x="8495554" y="4508897"/>
              <a:ext cx="574911" cy="497651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08" name="Google Shape;408;p30" title="Slide 18 - Flight Number vs Launch Site Scatter Cha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8575" y="1282325"/>
            <a:ext cx="3120750" cy="282245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30"/>
          <p:cNvSpPr txBox="1"/>
          <p:nvPr/>
        </p:nvSpPr>
        <p:spPr>
          <a:xfrm>
            <a:off x="494023" y="684000"/>
            <a:ext cx="4456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Flight Number vs Launch Site</a:t>
            </a:r>
            <a:endParaRPr b="1" sz="2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10" name="Google Shape;410;p30"/>
          <p:cNvSpPr txBox="1"/>
          <p:nvPr/>
        </p:nvSpPr>
        <p:spPr>
          <a:xfrm>
            <a:off x="494025" y="1191600"/>
            <a:ext cx="4939800" cy="30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999999"/>
                </a:solidFill>
                <a:latin typeface="Raleway"/>
                <a:ea typeface="Raleway"/>
                <a:cs typeface="Raleway"/>
                <a:sym typeface="Raleway"/>
              </a:rPr>
              <a:t>The scatter plot of Flight Number vs Launch Site shows that:</a:t>
            </a:r>
            <a:endParaRPr sz="1200">
              <a:solidFill>
                <a:srgbClr val="999999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AB40"/>
              </a:buClr>
              <a:buSzPts val="1300"/>
              <a:buFont typeface="Raleway"/>
              <a:buAutoNum type="arabicPeriod"/>
            </a:pP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Higher flight numbers have more successful landing outcomes across different launch sites</a:t>
            </a:r>
            <a:b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b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Later Falcon 9 flights contain more successful landings (Class = 1), suggesting improved landing performance over time.</a:t>
            </a:r>
            <a:b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b="1" sz="11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1300"/>
              <a:buFont typeface="Raleway"/>
              <a:buAutoNum type="arabicPeriod"/>
            </a:pP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CCAFS SLC 40 has the largest number of launches across the dataset</a:t>
            </a:r>
            <a:b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b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This site has both early and later missions, with successful and unsuccessful landing outcomes observed across different flight numbers.</a:t>
            </a:r>
            <a:endParaRPr b="1" sz="13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5" name="Google Shape;415;p31"/>
          <p:cNvGrpSpPr/>
          <p:nvPr/>
        </p:nvGrpSpPr>
        <p:grpSpPr>
          <a:xfrm>
            <a:off x="36850" y="-264200"/>
            <a:ext cx="9103051" cy="5356294"/>
            <a:chOff x="36850" y="-264200"/>
            <a:chExt cx="9103051" cy="5356294"/>
          </a:xfrm>
        </p:grpSpPr>
        <p:sp>
          <p:nvSpPr>
            <p:cNvPr id="416" name="Google Shape;416;p31"/>
            <p:cNvSpPr/>
            <p:nvPr/>
          </p:nvSpPr>
          <p:spPr>
            <a:xfrm rot="1677186">
              <a:off x="7476179" y="71932"/>
              <a:ext cx="1600645" cy="666336"/>
            </a:xfrm>
            <a:prstGeom prst="triangle">
              <a:avLst>
                <a:gd fmla="val 7729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31"/>
            <p:cNvSpPr/>
            <p:nvPr/>
          </p:nvSpPr>
          <p:spPr>
            <a:xfrm flipH="1">
              <a:off x="324000" y="324000"/>
              <a:ext cx="8502600" cy="4495500"/>
            </a:xfrm>
            <a:prstGeom prst="flowChartPunchedCard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18" name="Google Shape;418;p31"/>
            <p:cNvGrpSpPr/>
            <p:nvPr/>
          </p:nvGrpSpPr>
          <p:grpSpPr>
            <a:xfrm rot="10800000">
              <a:off x="5282495" y="238092"/>
              <a:ext cx="352548" cy="171819"/>
              <a:chOff x="4791775" y="1877500"/>
              <a:chExt cx="66725" cy="36975"/>
            </a:xfrm>
          </p:grpSpPr>
          <p:sp>
            <p:nvSpPr>
              <p:cNvPr id="419" name="Google Shape;419;p31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31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1" name="Google Shape;421;p31"/>
            <p:cNvGrpSpPr/>
            <p:nvPr/>
          </p:nvGrpSpPr>
          <p:grpSpPr>
            <a:xfrm>
              <a:off x="3211820" y="4733592"/>
              <a:ext cx="352548" cy="171819"/>
              <a:chOff x="4791775" y="1877500"/>
              <a:chExt cx="66725" cy="36975"/>
            </a:xfrm>
          </p:grpSpPr>
          <p:sp>
            <p:nvSpPr>
              <p:cNvPr id="422" name="Google Shape;422;p31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31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24" name="Google Shape;424;p31"/>
            <p:cNvSpPr/>
            <p:nvPr/>
          </p:nvSpPr>
          <p:spPr>
            <a:xfrm rot="-1143789">
              <a:off x="102379" y="156251"/>
              <a:ext cx="574952" cy="497686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31"/>
            <p:cNvSpPr/>
            <p:nvPr/>
          </p:nvSpPr>
          <p:spPr>
            <a:xfrm rot="1242158">
              <a:off x="8495554" y="4508897"/>
              <a:ext cx="574911" cy="497651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6" name="Google Shape;426;p31"/>
          <p:cNvSpPr txBox="1"/>
          <p:nvPr/>
        </p:nvSpPr>
        <p:spPr>
          <a:xfrm>
            <a:off x="494023" y="529611"/>
            <a:ext cx="4456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Flight Number vs Launch Site</a:t>
            </a:r>
            <a:endParaRPr b="1" sz="2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27" name="Google Shape;427;p31"/>
          <p:cNvSpPr txBox="1"/>
          <p:nvPr/>
        </p:nvSpPr>
        <p:spPr>
          <a:xfrm>
            <a:off x="493200" y="1037220"/>
            <a:ext cx="4939200" cy="37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   3.     </a:t>
            </a: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VAFB SLC 4E has successful and unsuccessful landing</a:t>
            </a: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	outcomes across different flight numbers</a:t>
            </a:r>
            <a:br>
              <a:rPr b="1" lang="en-GB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</a:br>
            <a:br>
              <a:rPr b="1" lang="en-GB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1" lang="en-GB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	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Early flights have more unsuccessful landing outcomes, while later</a:t>
            </a:r>
            <a:b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	missions mostly have successful landing outcomes.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  4.      </a:t>
            </a: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KSC LC 39A mainly has later flight numbers with</a:t>
            </a: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	mostly successful landing outcomes</a:t>
            </a:r>
            <a:endParaRPr b="1" sz="13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Most launches from this site occurred at higher flight numbers</a:t>
            </a:r>
            <a:b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	and have a higher proportion of successful landings.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  5.      </a:t>
            </a: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Launch site alone does not show a clear relationship</a:t>
            </a: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	with landing outcomes</a:t>
            </a:r>
            <a:endParaRPr b="1" sz="13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Within each launch site, higher flight numbers generally have more successful landing outcomes, suggesting improved landing performance over time.</a:t>
            </a:r>
            <a:endParaRPr b="1" sz="13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428" name="Google Shape;428;p31" title="Slide 18 - Flight Number vs Launch Site Scatter Cha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8575" y="1500395"/>
            <a:ext cx="3120750" cy="282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oogle Shape;433;p32"/>
          <p:cNvGrpSpPr/>
          <p:nvPr/>
        </p:nvGrpSpPr>
        <p:grpSpPr>
          <a:xfrm>
            <a:off x="36850" y="-264200"/>
            <a:ext cx="9103051" cy="5356294"/>
            <a:chOff x="36850" y="-264200"/>
            <a:chExt cx="9103051" cy="5356294"/>
          </a:xfrm>
        </p:grpSpPr>
        <p:sp>
          <p:nvSpPr>
            <p:cNvPr id="434" name="Google Shape;434;p32"/>
            <p:cNvSpPr/>
            <p:nvPr/>
          </p:nvSpPr>
          <p:spPr>
            <a:xfrm rot="1677186">
              <a:off x="7476179" y="71932"/>
              <a:ext cx="1600645" cy="666336"/>
            </a:xfrm>
            <a:prstGeom prst="triangle">
              <a:avLst>
                <a:gd fmla="val 7729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32"/>
            <p:cNvSpPr/>
            <p:nvPr/>
          </p:nvSpPr>
          <p:spPr>
            <a:xfrm flipH="1">
              <a:off x="324000" y="324000"/>
              <a:ext cx="8502600" cy="4495500"/>
            </a:xfrm>
            <a:prstGeom prst="flowChartPunchedCard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36" name="Google Shape;436;p32"/>
            <p:cNvGrpSpPr/>
            <p:nvPr/>
          </p:nvGrpSpPr>
          <p:grpSpPr>
            <a:xfrm rot="10800000">
              <a:off x="5282495" y="238092"/>
              <a:ext cx="352548" cy="171819"/>
              <a:chOff x="4791775" y="1877500"/>
              <a:chExt cx="66725" cy="36975"/>
            </a:xfrm>
          </p:grpSpPr>
          <p:sp>
            <p:nvSpPr>
              <p:cNvPr id="437" name="Google Shape;437;p32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p32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9" name="Google Shape;439;p32"/>
            <p:cNvGrpSpPr/>
            <p:nvPr/>
          </p:nvGrpSpPr>
          <p:grpSpPr>
            <a:xfrm>
              <a:off x="3211820" y="4733592"/>
              <a:ext cx="352548" cy="171819"/>
              <a:chOff x="4791775" y="1877500"/>
              <a:chExt cx="66725" cy="36975"/>
            </a:xfrm>
          </p:grpSpPr>
          <p:sp>
            <p:nvSpPr>
              <p:cNvPr id="440" name="Google Shape;440;p32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" name="Google Shape;441;p32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42" name="Google Shape;442;p32"/>
            <p:cNvSpPr/>
            <p:nvPr/>
          </p:nvSpPr>
          <p:spPr>
            <a:xfrm rot="-1143789">
              <a:off x="102379" y="156251"/>
              <a:ext cx="574952" cy="497686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32"/>
            <p:cNvSpPr/>
            <p:nvPr/>
          </p:nvSpPr>
          <p:spPr>
            <a:xfrm rot="1242158">
              <a:off x="8495554" y="4508897"/>
              <a:ext cx="574911" cy="497651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4" name="Google Shape;444;p32"/>
          <p:cNvSpPr txBox="1"/>
          <p:nvPr/>
        </p:nvSpPr>
        <p:spPr>
          <a:xfrm>
            <a:off x="494023" y="684000"/>
            <a:ext cx="4456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Payload Mass vs </a:t>
            </a: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Launch Site</a:t>
            </a:r>
            <a:endParaRPr b="1" sz="2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45" name="Google Shape;445;p32"/>
          <p:cNvSpPr txBox="1"/>
          <p:nvPr/>
        </p:nvSpPr>
        <p:spPr>
          <a:xfrm>
            <a:off x="494025" y="1191600"/>
            <a:ext cx="4939800" cy="3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999999"/>
                </a:solidFill>
                <a:latin typeface="Raleway"/>
                <a:ea typeface="Raleway"/>
                <a:cs typeface="Raleway"/>
                <a:sym typeface="Raleway"/>
              </a:rPr>
              <a:t>The scatter plot of </a:t>
            </a:r>
            <a:r>
              <a:rPr lang="en-GB" sz="1200">
                <a:solidFill>
                  <a:srgbClr val="999999"/>
                </a:solidFill>
                <a:latin typeface="Raleway"/>
                <a:ea typeface="Raleway"/>
                <a:cs typeface="Raleway"/>
                <a:sym typeface="Raleway"/>
              </a:rPr>
              <a:t>Payload Mass</a:t>
            </a:r>
            <a:r>
              <a:rPr lang="en-GB" sz="1200">
                <a:solidFill>
                  <a:srgbClr val="999999"/>
                </a:solidFill>
                <a:latin typeface="Raleway"/>
                <a:ea typeface="Raleway"/>
                <a:cs typeface="Raleway"/>
                <a:sym typeface="Raleway"/>
              </a:rPr>
              <a:t> vs </a:t>
            </a:r>
            <a:r>
              <a:rPr lang="en-GB" sz="1200">
                <a:solidFill>
                  <a:srgbClr val="999999"/>
                </a:solidFill>
                <a:latin typeface="Raleway"/>
                <a:ea typeface="Raleway"/>
                <a:cs typeface="Raleway"/>
                <a:sym typeface="Raleway"/>
              </a:rPr>
              <a:t>Launch Site </a:t>
            </a:r>
            <a:r>
              <a:rPr lang="en-GB" sz="1200">
                <a:solidFill>
                  <a:srgbClr val="999999"/>
                </a:solidFill>
                <a:latin typeface="Raleway"/>
                <a:ea typeface="Raleway"/>
                <a:cs typeface="Raleway"/>
                <a:sym typeface="Raleway"/>
              </a:rPr>
              <a:t>shows that:</a:t>
            </a:r>
            <a:endParaRPr sz="1200">
              <a:solidFill>
                <a:srgbClr val="999999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AB40"/>
              </a:buClr>
              <a:buSzPts val="1300"/>
              <a:buFont typeface="Raleway"/>
              <a:buAutoNum type="arabicPeriod"/>
            </a:pP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CCAFS SLC 40 has the largest number of launches across a wide range of payload masses</a:t>
            </a:r>
            <a:b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b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Most launches from this site have payload masses below approximately 7,000 kg, with both successful and unsuccessful landing outcomes observed.</a:t>
            </a:r>
            <a:b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b="1" sz="11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1300"/>
              <a:buFont typeface="Raleway"/>
              <a:buAutoNum type="arabicPeriod"/>
            </a:pP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Higher payload masses do not show a clear relationship with landing success</a:t>
            </a:r>
            <a:b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b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Successful and unsuccessful landing outcomes are observed across different payload ranges, suggesting payload mass alone does not show a clear relationship with landing outcomes.</a:t>
            </a:r>
            <a:endParaRPr b="1" sz="13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446" name="Google Shape;44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9698" y="1761993"/>
            <a:ext cx="3121201" cy="20578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oogle Shape;451;p33"/>
          <p:cNvGrpSpPr/>
          <p:nvPr/>
        </p:nvGrpSpPr>
        <p:grpSpPr>
          <a:xfrm>
            <a:off x="36850" y="-264200"/>
            <a:ext cx="9103051" cy="5356294"/>
            <a:chOff x="36850" y="-264200"/>
            <a:chExt cx="9103051" cy="5356294"/>
          </a:xfrm>
        </p:grpSpPr>
        <p:sp>
          <p:nvSpPr>
            <p:cNvPr id="452" name="Google Shape;452;p33"/>
            <p:cNvSpPr/>
            <p:nvPr/>
          </p:nvSpPr>
          <p:spPr>
            <a:xfrm rot="1677186">
              <a:off x="7476179" y="71932"/>
              <a:ext cx="1600645" cy="666336"/>
            </a:xfrm>
            <a:prstGeom prst="triangle">
              <a:avLst>
                <a:gd fmla="val 7729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33"/>
            <p:cNvSpPr/>
            <p:nvPr/>
          </p:nvSpPr>
          <p:spPr>
            <a:xfrm flipH="1">
              <a:off x="324000" y="324000"/>
              <a:ext cx="8502600" cy="4495500"/>
            </a:xfrm>
            <a:prstGeom prst="flowChartPunchedCard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54" name="Google Shape;454;p33"/>
            <p:cNvGrpSpPr/>
            <p:nvPr/>
          </p:nvGrpSpPr>
          <p:grpSpPr>
            <a:xfrm rot="10800000">
              <a:off x="5282495" y="238092"/>
              <a:ext cx="352548" cy="171819"/>
              <a:chOff x="4791775" y="1877500"/>
              <a:chExt cx="66725" cy="36975"/>
            </a:xfrm>
          </p:grpSpPr>
          <p:sp>
            <p:nvSpPr>
              <p:cNvPr id="455" name="Google Shape;455;p33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" name="Google Shape;456;p33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7" name="Google Shape;457;p33"/>
            <p:cNvGrpSpPr/>
            <p:nvPr/>
          </p:nvGrpSpPr>
          <p:grpSpPr>
            <a:xfrm>
              <a:off x="3211820" y="4733592"/>
              <a:ext cx="352548" cy="171819"/>
              <a:chOff x="4791775" y="1877500"/>
              <a:chExt cx="66725" cy="36975"/>
            </a:xfrm>
          </p:grpSpPr>
          <p:sp>
            <p:nvSpPr>
              <p:cNvPr id="458" name="Google Shape;458;p33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" name="Google Shape;459;p33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60" name="Google Shape;460;p33"/>
            <p:cNvSpPr/>
            <p:nvPr/>
          </p:nvSpPr>
          <p:spPr>
            <a:xfrm rot="-1143789">
              <a:off x="102379" y="156251"/>
              <a:ext cx="574952" cy="497686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33"/>
            <p:cNvSpPr/>
            <p:nvPr/>
          </p:nvSpPr>
          <p:spPr>
            <a:xfrm rot="1242158">
              <a:off x="8495554" y="4508897"/>
              <a:ext cx="574911" cy="497651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2" name="Google Shape;462;p33"/>
          <p:cNvSpPr txBox="1"/>
          <p:nvPr/>
        </p:nvSpPr>
        <p:spPr>
          <a:xfrm>
            <a:off x="493200" y="1190891"/>
            <a:ext cx="4939200" cy="3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   3.     </a:t>
            </a: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KSC LC 39A has mainly higher payload mass</a:t>
            </a: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	missions</a:t>
            </a:r>
            <a:br>
              <a:rPr b="1" lang="en-GB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</a:br>
            <a:br>
              <a:rPr b="1" lang="en-GB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1" lang="en-GB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	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Most launches from this site have payload masses above</a:t>
            </a:r>
            <a:b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	approximately 2,500 kg, with the majority having successful</a:t>
            </a:r>
            <a:b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	landing outcomes.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  4.      </a:t>
            </a: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VAFB SLC 4E has fewer launches, with successful</a:t>
            </a: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	</a:t>
            </a: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nd unsuccessful landing outcomes observed across</a:t>
            </a: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	different payload masses</a:t>
            </a:r>
            <a:endParaRPr b="1" sz="13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The limited number of observations makes it difficult to identify</a:t>
            </a:r>
            <a:b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	A strong payload-related trend.</a:t>
            </a:r>
            <a:b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b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1" lang="en-GB" sz="13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Overall, payload mass alone does not show a clear relationship with landing outcomes.</a:t>
            </a:r>
            <a:endParaRPr b="1" sz="13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463" name="Google Shape;46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9698" y="1941434"/>
            <a:ext cx="3121201" cy="2057814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33"/>
          <p:cNvSpPr txBox="1"/>
          <p:nvPr/>
        </p:nvSpPr>
        <p:spPr>
          <a:xfrm>
            <a:off x="494023" y="684000"/>
            <a:ext cx="4456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Payload Mass vs Launch Site</a:t>
            </a:r>
            <a:endParaRPr b="1" sz="2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9" name="Google Shape;469;p34"/>
          <p:cNvGrpSpPr/>
          <p:nvPr/>
        </p:nvGrpSpPr>
        <p:grpSpPr>
          <a:xfrm>
            <a:off x="36850" y="-264200"/>
            <a:ext cx="9103051" cy="5356294"/>
            <a:chOff x="36850" y="-264200"/>
            <a:chExt cx="9103051" cy="5356294"/>
          </a:xfrm>
        </p:grpSpPr>
        <p:sp>
          <p:nvSpPr>
            <p:cNvPr id="470" name="Google Shape;470;p34"/>
            <p:cNvSpPr/>
            <p:nvPr/>
          </p:nvSpPr>
          <p:spPr>
            <a:xfrm rot="1677186">
              <a:off x="7476179" y="71932"/>
              <a:ext cx="1600645" cy="666336"/>
            </a:xfrm>
            <a:prstGeom prst="triangle">
              <a:avLst>
                <a:gd fmla="val 7729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34"/>
            <p:cNvSpPr/>
            <p:nvPr/>
          </p:nvSpPr>
          <p:spPr>
            <a:xfrm flipH="1">
              <a:off x="324000" y="324000"/>
              <a:ext cx="8502600" cy="4495500"/>
            </a:xfrm>
            <a:prstGeom prst="flowChartPunchedCard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72" name="Google Shape;472;p34"/>
            <p:cNvGrpSpPr/>
            <p:nvPr/>
          </p:nvGrpSpPr>
          <p:grpSpPr>
            <a:xfrm rot="10800000">
              <a:off x="5282495" y="238092"/>
              <a:ext cx="352548" cy="171819"/>
              <a:chOff x="4791775" y="1877500"/>
              <a:chExt cx="66725" cy="36975"/>
            </a:xfrm>
          </p:grpSpPr>
          <p:sp>
            <p:nvSpPr>
              <p:cNvPr id="473" name="Google Shape;473;p34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" name="Google Shape;474;p34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5" name="Google Shape;475;p34"/>
            <p:cNvGrpSpPr/>
            <p:nvPr/>
          </p:nvGrpSpPr>
          <p:grpSpPr>
            <a:xfrm>
              <a:off x="3211820" y="4733592"/>
              <a:ext cx="352548" cy="171819"/>
              <a:chOff x="4791775" y="1877500"/>
              <a:chExt cx="66725" cy="36975"/>
            </a:xfrm>
          </p:grpSpPr>
          <p:sp>
            <p:nvSpPr>
              <p:cNvPr id="476" name="Google Shape;476;p34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" name="Google Shape;477;p34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78" name="Google Shape;478;p34"/>
            <p:cNvSpPr/>
            <p:nvPr/>
          </p:nvSpPr>
          <p:spPr>
            <a:xfrm rot="-1143789">
              <a:off x="102379" y="156251"/>
              <a:ext cx="574952" cy="497686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4"/>
            <p:cNvSpPr/>
            <p:nvPr/>
          </p:nvSpPr>
          <p:spPr>
            <a:xfrm rot="1242158">
              <a:off x="8495554" y="4508897"/>
              <a:ext cx="574911" cy="497651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0" name="Google Shape;480;p34"/>
          <p:cNvSpPr txBox="1"/>
          <p:nvPr/>
        </p:nvSpPr>
        <p:spPr>
          <a:xfrm>
            <a:off x="494023" y="684000"/>
            <a:ext cx="4456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Success Rate</a:t>
            </a: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 vs Orbit Type</a:t>
            </a:r>
            <a:endParaRPr b="1" sz="2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81" name="Google Shape;481;p34"/>
          <p:cNvSpPr txBox="1"/>
          <p:nvPr/>
        </p:nvSpPr>
        <p:spPr>
          <a:xfrm>
            <a:off x="494025" y="1191600"/>
            <a:ext cx="49398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999999"/>
                </a:solidFill>
                <a:latin typeface="Raleway"/>
                <a:ea typeface="Raleway"/>
                <a:cs typeface="Raleway"/>
                <a:sym typeface="Raleway"/>
              </a:rPr>
              <a:t>The bar chart of </a:t>
            </a:r>
            <a:r>
              <a:rPr lang="en-GB" sz="1200">
                <a:solidFill>
                  <a:srgbClr val="999999"/>
                </a:solidFill>
                <a:latin typeface="Raleway"/>
                <a:ea typeface="Raleway"/>
                <a:cs typeface="Raleway"/>
                <a:sym typeface="Raleway"/>
              </a:rPr>
              <a:t>Success Rate vs Orbit Type</a:t>
            </a:r>
            <a:r>
              <a:rPr lang="en-GB" sz="1200">
                <a:solidFill>
                  <a:srgbClr val="999999"/>
                </a:solidFill>
                <a:latin typeface="Raleway"/>
                <a:ea typeface="Raleway"/>
                <a:cs typeface="Raleway"/>
                <a:sym typeface="Raleway"/>
              </a:rPr>
              <a:t> shows that:</a:t>
            </a:r>
            <a:endParaRPr sz="1200">
              <a:solidFill>
                <a:srgbClr val="999999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AB40"/>
              </a:buClr>
              <a:buSzPts val="1300"/>
              <a:buFont typeface="Raleway"/>
              <a:buAutoNum type="arabicPeriod"/>
            </a:pP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ES-L1, GEO, HEO, and SSO have the highest success rates at 100%</a:t>
            </a:r>
            <a:b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b="1" sz="11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1300"/>
              <a:buFont typeface="Raleway"/>
              <a:buAutoNum type="arabicPeriod"/>
            </a:pP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SO has the lowest success rate at 0%</a:t>
            </a: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b="1" sz="13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1300"/>
              <a:buFont typeface="Raleway"/>
              <a:buAutoNum type="arabicPeriod"/>
            </a:pP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VLEO has a high success rate of approximately 85%, while LEO has around 71%</a:t>
            </a: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b="1" sz="13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1300"/>
              <a:buFont typeface="Raleway"/>
              <a:buAutoNum type="arabicPeriod"/>
            </a:pP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MEO and PO have similar success rates of approximately 67%, indicating moderate landing performance</a:t>
            </a:r>
            <a:endParaRPr b="1" sz="13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482" name="Google Shape;482;p34" title="Slide 22 - Success Rate vs Orbit Type Scatter Cha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0800" y="1534994"/>
            <a:ext cx="3121200" cy="2330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7" name="Google Shape;487;p35"/>
          <p:cNvGrpSpPr/>
          <p:nvPr/>
        </p:nvGrpSpPr>
        <p:grpSpPr>
          <a:xfrm>
            <a:off x="36850" y="-264200"/>
            <a:ext cx="9103051" cy="5356294"/>
            <a:chOff x="36850" y="-264200"/>
            <a:chExt cx="9103051" cy="5356294"/>
          </a:xfrm>
        </p:grpSpPr>
        <p:sp>
          <p:nvSpPr>
            <p:cNvPr id="488" name="Google Shape;488;p35"/>
            <p:cNvSpPr/>
            <p:nvPr/>
          </p:nvSpPr>
          <p:spPr>
            <a:xfrm rot="1677186">
              <a:off x="7476179" y="71932"/>
              <a:ext cx="1600645" cy="666336"/>
            </a:xfrm>
            <a:prstGeom prst="triangle">
              <a:avLst>
                <a:gd fmla="val 7729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35"/>
            <p:cNvSpPr/>
            <p:nvPr/>
          </p:nvSpPr>
          <p:spPr>
            <a:xfrm flipH="1">
              <a:off x="324000" y="324000"/>
              <a:ext cx="8502600" cy="4495500"/>
            </a:xfrm>
            <a:prstGeom prst="flowChartPunchedCard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90" name="Google Shape;490;p35"/>
            <p:cNvGrpSpPr/>
            <p:nvPr/>
          </p:nvGrpSpPr>
          <p:grpSpPr>
            <a:xfrm rot="10800000">
              <a:off x="5282495" y="238092"/>
              <a:ext cx="352548" cy="171819"/>
              <a:chOff x="4791775" y="1877500"/>
              <a:chExt cx="66725" cy="36975"/>
            </a:xfrm>
          </p:grpSpPr>
          <p:sp>
            <p:nvSpPr>
              <p:cNvPr id="491" name="Google Shape;491;p35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" name="Google Shape;492;p35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93" name="Google Shape;493;p35"/>
            <p:cNvGrpSpPr/>
            <p:nvPr/>
          </p:nvGrpSpPr>
          <p:grpSpPr>
            <a:xfrm>
              <a:off x="3211820" y="4733592"/>
              <a:ext cx="352548" cy="171819"/>
              <a:chOff x="4791775" y="1877500"/>
              <a:chExt cx="66725" cy="36975"/>
            </a:xfrm>
          </p:grpSpPr>
          <p:sp>
            <p:nvSpPr>
              <p:cNvPr id="494" name="Google Shape;494;p35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" name="Google Shape;495;p35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96" name="Google Shape;496;p35"/>
            <p:cNvSpPr/>
            <p:nvPr/>
          </p:nvSpPr>
          <p:spPr>
            <a:xfrm rot="-1143789">
              <a:off x="102379" y="156251"/>
              <a:ext cx="574952" cy="497686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35"/>
            <p:cNvSpPr/>
            <p:nvPr/>
          </p:nvSpPr>
          <p:spPr>
            <a:xfrm rot="1242158">
              <a:off x="8495554" y="4508897"/>
              <a:ext cx="574911" cy="497651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8" name="Google Shape;498;p35"/>
          <p:cNvSpPr txBox="1"/>
          <p:nvPr/>
        </p:nvSpPr>
        <p:spPr>
          <a:xfrm>
            <a:off x="493200" y="1190891"/>
            <a:ext cx="4939200" cy="3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3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   5.     </a:t>
            </a: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GTO and ISS have lower success rates compared</a:t>
            </a: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	</a:t>
            </a: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ith other orbit types, with GTO having approximately</a:t>
            </a: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	50% success</a:t>
            </a:r>
            <a:b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b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1" lang="en-GB" sz="13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Overall, landing success varies across orbit types, suggesting that orbit type may be an important factor in predicting Falcon 9 landing outcomes.</a:t>
            </a:r>
            <a:endParaRPr b="1" sz="13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99" name="Google Shape;499;p35"/>
          <p:cNvSpPr txBox="1"/>
          <p:nvPr/>
        </p:nvSpPr>
        <p:spPr>
          <a:xfrm>
            <a:off x="494023" y="684000"/>
            <a:ext cx="4456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Success Rate vs Orbit Type</a:t>
            </a:r>
            <a:endParaRPr b="1" sz="2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500" name="Google Shape;500;p35" title="Slide 22 - Success Rate vs Orbit Type Scatter Cha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0800" y="1320929"/>
            <a:ext cx="3121200" cy="2330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5" name="Google Shape;505;p36"/>
          <p:cNvGrpSpPr/>
          <p:nvPr/>
        </p:nvGrpSpPr>
        <p:grpSpPr>
          <a:xfrm>
            <a:off x="36850" y="-264200"/>
            <a:ext cx="9103051" cy="5356294"/>
            <a:chOff x="36850" y="-264200"/>
            <a:chExt cx="9103051" cy="5356294"/>
          </a:xfrm>
        </p:grpSpPr>
        <p:sp>
          <p:nvSpPr>
            <p:cNvPr id="506" name="Google Shape;506;p36"/>
            <p:cNvSpPr/>
            <p:nvPr/>
          </p:nvSpPr>
          <p:spPr>
            <a:xfrm rot="1677186">
              <a:off x="7476179" y="71932"/>
              <a:ext cx="1600645" cy="666336"/>
            </a:xfrm>
            <a:prstGeom prst="triangle">
              <a:avLst>
                <a:gd fmla="val 7729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36"/>
            <p:cNvSpPr/>
            <p:nvPr/>
          </p:nvSpPr>
          <p:spPr>
            <a:xfrm flipH="1">
              <a:off x="324000" y="324000"/>
              <a:ext cx="8502600" cy="4495500"/>
            </a:xfrm>
            <a:prstGeom prst="flowChartPunchedCard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08" name="Google Shape;508;p36"/>
            <p:cNvGrpSpPr/>
            <p:nvPr/>
          </p:nvGrpSpPr>
          <p:grpSpPr>
            <a:xfrm rot="10800000">
              <a:off x="5282495" y="238092"/>
              <a:ext cx="352548" cy="171819"/>
              <a:chOff x="4791775" y="1877500"/>
              <a:chExt cx="66725" cy="36975"/>
            </a:xfrm>
          </p:grpSpPr>
          <p:sp>
            <p:nvSpPr>
              <p:cNvPr id="509" name="Google Shape;509;p36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0" name="Google Shape;510;p36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11" name="Google Shape;511;p36"/>
            <p:cNvGrpSpPr/>
            <p:nvPr/>
          </p:nvGrpSpPr>
          <p:grpSpPr>
            <a:xfrm>
              <a:off x="3211820" y="4733592"/>
              <a:ext cx="352548" cy="171819"/>
              <a:chOff x="4791775" y="1877500"/>
              <a:chExt cx="66725" cy="36975"/>
            </a:xfrm>
          </p:grpSpPr>
          <p:sp>
            <p:nvSpPr>
              <p:cNvPr id="512" name="Google Shape;512;p36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" name="Google Shape;513;p36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14" name="Google Shape;514;p36"/>
            <p:cNvSpPr/>
            <p:nvPr/>
          </p:nvSpPr>
          <p:spPr>
            <a:xfrm rot="-1143789">
              <a:off x="102379" y="156251"/>
              <a:ext cx="574952" cy="497686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36"/>
            <p:cNvSpPr/>
            <p:nvPr/>
          </p:nvSpPr>
          <p:spPr>
            <a:xfrm rot="1242158">
              <a:off x="8495554" y="4508897"/>
              <a:ext cx="574911" cy="497651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6" name="Google Shape;516;p36"/>
          <p:cNvSpPr txBox="1"/>
          <p:nvPr/>
        </p:nvSpPr>
        <p:spPr>
          <a:xfrm>
            <a:off x="494023" y="684000"/>
            <a:ext cx="4456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Flight Number vs Orbit Type</a:t>
            </a:r>
            <a:endParaRPr b="1" sz="2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17" name="Google Shape;517;p36"/>
          <p:cNvSpPr txBox="1"/>
          <p:nvPr/>
        </p:nvSpPr>
        <p:spPr>
          <a:xfrm>
            <a:off x="494025" y="1191600"/>
            <a:ext cx="4939800" cy="32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999999"/>
                </a:solidFill>
                <a:latin typeface="Raleway"/>
                <a:ea typeface="Raleway"/>
                <a:cs typeface="Raleway"/>
                <a:sym typeface="Raleway"/>
              </a:rPr>
              <a:t>The scatter plot of </a:t>
            </a:r>
            <a:r>
              <a:rPr lang="en-GB" sz="1200">
                <a:solidFill>
                  <a:srgbClr val="999999"/>
                </a:solidFill>
                <a:latin typeface="Raleway"/>
                <a:ea typeface="Raleway"/>
                <a:cs typeface="Raleway"/>
                <a:sym typeface="Raleway"/>
              </a:rPr>
              <a:t>Flight Number vs Orbit Type</a:t>
            </a:r>
            <a:r>
              <a:rPr lang="en-GB" sz="1200">
                <a:solidFill>
                  <a:srgbClr val="999999"/>
                </a:solidFill>
                <a:latin typeface="Raleway"/>
                <a:ea typeface="Raleway"/>
                <a:cs typeface="Raleway"/>
                <a:sym typeface="Raleway"/>
              </a:rPr>
              <a:t> shows that:</a:t>
            </a:r>
            <a:endParaRPr sz="1200">
              <a:solidFill>
                <a:srgbClr val="999999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AB40"/>
              </a:buClr>
              <a:buSzPts val="1300"/>
              <a:buFont typeface="Raleway"/>
              <a:buAutoNum type="arabicPeriod"/>
            </a:pP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Higher flight numbers have more successful landings outcomes across several orbit types</a:t>
            </a:r>
            <a:b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b="1" sz="11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1300"/>
              <a:buFont typeface="Raleway"/>
              <a:buAutoNum type="arabicPeriod"/>
            </a:pP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GTO and ISS have both successful and unsuccessful landing outcomes across different flight numbers</a:t>
            </a: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b="1" sz="13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1300"/>
              <a:buFont typeface="Raleway"/>
              <a:buAutoNum type="arabicPeriod"/>
            </a:pP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VLEO launches mainly occur at higher flight numbers and have mostly successful landing outcomes</a:t>
            </a: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b="1" sz="13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1300"/>
              <a:buFont typeface="Raleway"/>
              <a:buAutoNum type="arabicPeriod"/>
            </a:pPr>
            <a:r>
              <a:rPr b="1" lang="en-GB" sz="13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LEO and PO have a wide range of flight numbers with both successful and unsuccessful landing outcomes observed</a:t>
            </a:r>
            <a:endParaRPr b="1" sz="13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518" name="Google Shape;51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0800" y="1790499"/>
            <a:ext cx="3121200" cy="2279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oogle Shape;523;p37"/>
          <p:cNvGrpSpPr/>
          <p:nvPr/>
        </p:nvGrpSpPr>
        <p:grpSpPr>
          <a:xfrm>
            <a:off x="36850" y="-264200"/>
            <a:ext cx="9103051" cy="5356294"/>
            <a:chOff x="36850" y="-264200"/>
            <a:chExt cx="9103051" cy="5356294"/>
          </a:xfrm>
        </p:grpSpPr>
        <p:sp>
          <p:nvSpPr>
            <p:cNvPr id="524" name="Google Shape;524;p37"/>
            <p:cNvSpPr/>
            <p:nvPr/>
          </p:nvSpPr>
          <p:spPr>
            <a:xfrm rot="1677186">
              <a:off x="7476179" y="71932"/>
              <a:ext cx="1600645" cy="666336"/>
            </a:xfrm>
            <a:prstGeom prst="triangle">
              <a:avLst>
                <a:gd fmla="val 7729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37"/>
            <p:cNvSpPr/>
            <p:nvPr/>
          </p:nvSpPr>
          <p:spPr>
            <a:xfrm flipH="1">
              <a:off x="324000" y="324000"/>
              <a:ext cx="8502600" cy="4495500"/>
            </a:xfrm>
            <a:prstGeom prst="flowChartPunchedCard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26" name="Google Shape;526;p37"/>
            <p:cNvGrpSpPr/>
            <p:nvPr/>
          </p:nvGrpSpPr>
          <p:grpSpPr>
            <a:xfrm rot="10800000">
              <a:off x="5282495" y="238092"/>
              <a:ext cx="352548" cy="171819"/>
              <a:chOff x="4791775" y="1877500"/>
              <a:chExt cx="66725" cy="36975"/>
            </a:xfrm>
          </p:grpSpPr>
          <p:sp>
            <p:nvSpPr>
              <p:cNvPr id="527" name="Google Shape;527;p37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" name="Google Shape;528;p37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29" name="Google Shape;529;p37"/>
            <p:cNvGrpSpPr/>
            <p:nvPr/>
          </p:nvGrpSpPr>
          <p:grpSpPr>
            <a:xfrm>
              <a:off x="3211820" y="4733592"/>
              <a:ext cx="352548" cy="171819"/>
              <a:chOff x="4791775" y="1877500"/>
              <a:chExt cx="66725" cy="36975"/>
            </a:xfrm>
          </p:grpSpPr>
          <p:sp>
            <p:nvSpPr>
              <p:cNvPr id="530" name="Google Shape;530;p37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1" name="Google Shape;531;p37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32" name="Google Shape;532;p37"/>
            <p:cNvSpPr/>
            <p:nvPr/>
          </p:nvSpPr>
          <p:spPr>
            <a:xfrm rot="-1143789">
              <a:off x="102379" y="156251"/>
              <a:ext cx="574952" cy="497686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37"/>
            <p:cNvSpPr/>
            <p:nvPr/>
          </p:nvSpPr>
          <p:spPr>
            <a:xfrm rot="1242158">
              <a:off x="8495554" y="4508897"/>
              <a:ext cx="574911" cy="497651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4" name="Google Shape;534;p37"/>
          <p:cNvSpPr txBox="1"/>
          <p:nvPr/>
        </p:nvSpPr>
        <p:spPr>
          <a:xfrm>
            <a:off x="493200" y="1190905"/>
            <a:ext cx="4939200" cy="29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3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   5</a:t>
            </a:r>
            <a:r>
              <a:rPr b="1" lang="en-GB" sz="13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  <a:r>
              <a:rPr b="1" lang="en-GB" sz="13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b="1" lang="en-GB" sz="13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    Some orbit types, such as GEO and ES-L1, have limited</a:t>
            </a:r>
            <a:br>
              <a:rPr b="1" lang="en-GB" sz="13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1" lang="en-GB" sz="13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	flight observations, making it difficult to identify a</a:t>
            </a:r>
            <a:br>
              <a:rPr b="1" lang="en-GB" sz="13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1" lang="en-GB" sz="13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	clear trend</a:t>
            </a:r>
            <a:endParaRPr b="1" sz="13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35" name="Google Shape;535;p37"/>
          <p:cNvSpPr txBox="1"/>
          <p:nvPr/>
        </p:nvSpPr>
        <p:spPr>
          <a:xfrm>
            <a:off x="494023" y="684000"/>
            <a:ext cx="4456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Flight Number vs Orbit Type</a:t>
            </a:r>
            <a:endParaRPr b="1" sz="2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536" name="Google Shape;53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0800" y="1321200"/>
            <a:ext cx="3121200" cy="2279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1" name="Google Shape;541;p38"/>
          <p:cNvGrpSpPr/>
          <p:nvPr/>
        </p:nvGrpSpPr>
        <p:grpSpPr>
          <a:xfrm>
            <a:off x="36850" y="-264200"/>
            <a:ext cx="9103051" cy="5356294"/>
            <a:chOff x="36850" y="-264200"/>
            <a:chExt cx="9103051" cy="5356294"/>
          </a:xfrm>
        </p:grpSpPr>
        <p:sp>
          <p:nvSpPr>
            <p:cNvPr id="542" name="Google Shape;542;p38"/>
            <p:cNvSpPr/>
            <p:nvPr/>
          </p:nvSpPr>
          <p:spPr>
            <a:xfrm rot="1677186">
              <a:off x="7476179" y="71932"/>
              <a:ext cx="1600645" cy="666336"/>
            </a:xfrm>
            <a:prstGeom prst="triangle">
              <a:avLst>
                <a:gd fmla="val 7729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38"/>
            <p:cNvSpPr/>
            <p:nvPr/>
          </p:nvSpPr>
          <p:spPr>
            <a:xfrm flipH="1">
              <a:off x="324000" y="324000"/>
              <a:ext cx="8502600" cy="4495500"/>
            </a:xfrm>
            <a:prstGeom prst="flowChartPunchedCard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44" name="Google Shape;544;p38"/>
            <p:cNvGrpSpPr/>
            <p:nvPr/>
          </p:nvGrpSpPr>
          <p:grpSpPr>
            <a:xfrm rot="10800000">
              <a:off x="5282495" y="238092"/>
              <a:ext cx="352548" cy="171819"/>
              <a:chOff x="4791775" y="1877500"/>
              <a:chExt cx="66725" cy="36975"/>
            </a:xfrm>
          </p:grpSpPr>
          <p:sp>
            <p:nvSpPr>
              <p:cNvPr id="545" name="Google Shape;545;p38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6" name="Google Shape;546;p38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7" name="Google Shape;547;p38"/>
            <p:cNvGrpSpPr/>
            <p:nvPr/>
          </p:nvGrpSpPr>
          <p:grpSpPr>
            <a:xfrm>
              <a:off x="3211820" y="4733592"/>
              <a:ext cx="352548" cy="171819"/>
              <a:chOff x="4791775" y="1877500"/>
              <a:chExt cx="66725" cy="36975"/>
            </a:xfrm>
          </p:grpSpPr>
          <p:sp>
            <p:nvSpPr>
              <p:cNvPr id="548" name="Google Shape;548;p38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9" name="Google Shape;549;p38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50" name="Google Shape;550;p38"/>
            <p:cNvSpPr/>
            <p:nvPr/>
          </p:nvSpPr>
          <p:spPr>
            <a:xfrm rot="-1143789">
              <a:off x="102379" y="156251"/>
              <a:ext cx="574952" cy="497686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38"/>
            <p:cNvSpPr/>
            <p:nvPr/>
          </p:nvSpPr>
          <p:spPr>
            <a:xfrm rot="1242158">
              <a:off x="8495554" y="4508897"/>
              <a:ext cx="574911" cy="497651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2" name="Google Shape;552;p38"/>
          <p:cNvSpPr txBox="1"/>
          <p:nvPr/>
        </p:nvSpPr>
        <p:spPr>
          <a:xfrm>
            <a:off x="494023" y="684000"/>
            <a:ext cx="4456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Payload</a:t>
            </a: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 Mass vs Orbit Type</a:t>
            </a:r>
            <a:endParaRPr b="1" sz="2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53" name="Google Shape;553;p38"/>
          <p:cNvSpPr txBox="1"/>
          <p:nvPr/>
        </p:nvSpPr>
        <p:spPr>
          <a:xfrm>
            <a:off x="494025" y="1191600"/>
            <a:ext cx="4939800" cy="25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999999"/>
                </a:solidFill>
                <a:latin typeface="Raleway"/>
                <a:ea typeface="Raleway"/>
                <a:cs typeface="Raleway"/>
                <a:sym typeface="Raleway"/>
              </a:rPr>
              <a:t>The scatter plot of </a:t>
            </a:r>
            <a:r>
              <a:rPr lang="en-GB" sz="1200">
                <a:solidFill>
                  <a:srgbClr val="999999"/>
                </a:solidFill>
                <a:latin typeface="Raleway"/>
                <a:ea typeface="Raleway"/>
                <a:cs typeface="Raleway"/>
                <a:sym typeface="Raleway"/>
              </a:rPr>
              <a:t>Payload Mass vs Orbit Type</a:t>
            </a:r>
            <a:r>
              <a:rPr lang="en-GB" sz="1200">
                <a:solidFill>
                  <a:srgbClr val="999999"/>
                </a:solidFill>
                <a:latin typeface="Raleway"/>
                <a:ea typeface="Raleway"/>
                <a:cs typeface="Raleway"/>
                <a:sym typeface="Raleway"/>
              </a:rPr>
              <a:t> shows that:</a:t>
            </a:r>
            <a:endParaRPr sz="1200">
              <a:solidFill>
                <a:srgbClr val="999999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AB40"/>
              </a:buClr>
              <a:buSzPts val="1300"/>
              <a:buFont typeface="Raleway"/>
              <a:buAutoNum type="arabicPeriod"/>
            </a:pP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VLEO launches mainly occur at higher payload masses and have mostly successful landing</a:t>
            </a: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outcomes</a:t>
            </a:r>
            <a:b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b="1" sz="11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1300"/>
              <a:buFont typeface="Raleway"/>
              <a:buAutoNum type="arabicPeriod"/>
            </a:pP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GTO has the largest number of launches across a</a:t>
            </a: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wide range of payload masses</a:t>
            </a: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b="1" sz="13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1300"/>
              <a:buFont typeface="Raleway"/>
              <a:buAutoNum type="arabicPeriod"/>
            </a:pP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LEO and ISS have successful and unsuccessful landing outcomes across different payload ranges</a:t>
            </a:r>
            <a:endParaRPr b="1" sz="13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554" name="Google Shape;554;p38" title="Slide 26 - Payload Mass vs Orbit Typ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0800" y="1235200"/>
            <a:ext cx="3121200" cy="2239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9" name="Google Shape;559;p39"/>
          <p:cNvGrpSpPr/>
          <p:nvPr/>
        </p:nvGrpSpPr>
        <p:grpSpPr>
          <a:xfrm>
            <a:off x="36850" y="-264200"/>
            <a:ext cx="9103051" cy="5356294"/>
            <a:chOff x="36850" y="-264200"/>
            <a:chExt cx="9103051" cy="5356294"/>
          </a:xfrm>
        </p:grpSpPr>
        <p:sp>
          <p:nvSpPr>
            <p:cNvPr id="560" name="Google Shape;560;p39"/>
            <p:cNvSpPr/>
            <p:nvPr/>
          </p:nvSpPr>
          <p:spPr>
            <a:xfrm rot="1677186">
              <a:off x="7476179" y="71932"/>
              <a:ext cx="1600645" cy="666336"/>
            </a:xfrm>
            <a:prstGeom prst="triangle">
              <a:avLst>
                <a:gd fmla="val 7729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39"/>
            <p:cNvSpPr/>
            <p:nvPr/>
          </p:nvSpPr>
          <p:spPr>
            <a:xfrm flipH="1">
              <a:off x="324000" y="324000"/>
              <a:ext cx="8502600" cy="4495500"/>
            </a:xfrm>
            <a:prstGeom prst="flowChartPunchedCard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62" name="Google Shape;562;p39"/>
            <p:cNvGrpSpPr/>
            <p:nvPr/>
          </p:nvGrpSpPr>
          <p:grpSpPr>
            <a:xfrm rot="10800000">
              <a:off x="5282495" y="238092"/>
              <a:ext cx="352548" cy="171819"/>
              <a:chOff x="4791775" y="1877500"/>
              <a:chExt cx="66725" cy="36975"/>
            </a:xfrm>
          </p:grpSpPr>
          <p:sp>
            <p:nvSpPr>
              <p:cNvPr id="563" name="Google Shape;563;p39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" name="Google Shape;564;p39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5" name="Google Shape;565;p39"/>
            <p:cNvGrpSpPr/>
            <p:nvPr/>
          </p:nvGrpSpPr>
          <p:grpSpPr>
            <a:xfrm>
              <a:off x="3211820" y="4733592"/>
              <a:ext cx="352548" cy="171819"/>
              <a:chOff x="4791775" y="1877500"/>
              <a:chExt cx="66725" cy="36975"/>
            </a:xfrm>
          </p:grpSpPr>
          <p:sp>
            <p:nvSpPr>
              <p:cNvPr id="566" name="Google Shape;566;p39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" name="Google Shape;567;p39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68" name="Google Shape;568;p39"/>
            <p:cNvSpPr/>
            <p:nvPr/>
          </p:nvSpPr>
          <p:spPr>
            <a:xfrm rot="-1143789">
              <a:off x="102379" y="156251"/>
              <a:ext cx="574952" cy="497686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39"/>
            <p:cNvSpPr/>
            <p:nvPr/>
          </p:nvSpPr>
          <p:spPr>
            <a:xfrm rot="1242158">
              <a:off x="8495554" y="4508897"/>
              <a:ext cx="574911" cy="497651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0" name="Google Shape;570;p39"/>
          <p:cNvSpPr txBox="1"/>
          <p:nvPr/>
        </p:nvSpPr>
        <p:spPr>
          <a:xfrm>
            <a:off x="493200" y="1190905"/>
            <a:ext cx="4939200" cy="29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   4.     </a:t>
            </a:r>
            <a:r>
              <a:rPr b="1" lang="en-GB" sz="13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Some orbit types, such as GEO and ES-L1, have</a:t>
            </a:r>
            <a:br>
              <a:rPr b="1" lang="en-GB" sz="13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1" lang="en-GB" sz="13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	limited payload observations, making it difficult to</a:t>
            </a:r>
            <a:br>
              <a:rPr b="1" lang="en-GB" sz="13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1" lang="en-GB" sz="13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	identify a clear trend</a:t>
            </a:r>
            <a:endParaRPr b="1" sz="13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Overall, payload mass distribution varies across orbit types, but payload mass alone does not show a clear relationship with landing outcomes. </a:t>
            </a:r>
            <a:endParaRPr b="1" sz="13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71" name="Google Shape;571;p39"/>
          <p:cNvSpPr txBox="1"/>
          <p:nvPr/>
        </p:nvSpPr>
        <p:spPr>
          <a:xfrm>
            <a:off x="494023" y="684000"/>
            <a:ext cx="4456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Payload Mass vs Orbit Type</a:t>
            </a:r>
            <a:endParaRPr b="1" sz="2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572" name="Google Shape;572;p39" title="Slide 26 - Payload Mass vs Orbit Typ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0800" y="1235200"/>
            <a:ext cx="3121200" cy="2239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7" name="Google Shape;577;p40"/>
          <p:cNvGrpSpPr/>
          <p:nvPr/>
        </p:nvGrpSpPr>
        <p:grpSpPr>
          <a:xfrm>
            <a:off x="36850" y="-264200"/>
            <a:ext cx="9103051" cy="5356294"/>
            <a:chOff x="36850" y="-264200"/>
            <a:chExt cx="9103051" cy="5356294"/>
          </a:xfrm>
        </p:grpSpPr>
        <p:sp>
          <p:nvSpPr>
            <p:cNvPr id="578" name="Google Shape;578;p40"/>
            <p:cNvSpPr/>
            <p:nvPr/>
          </p:nvSpPr>
          <p:spPr>
            <a:xfrm rot="1677186">
              <a:off x="7476179" y="71932"/>
              <a:ext cx="1600645" cy="666336"/>
            </a:xfrm>
            <a:prstGeom prst="triangle">
              <a:avLst>
                <a:gd fmla="val 7729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40"/>
            <p:cNvSpPr/>
            <p:nvPr/>
          </p:nvSpPr>
          <p:spPr>
            <a:xfrm flipH="1">
              <a:off x="324000" y="324000"/>
              <a:ext cx="8502600" cy="4495500"/>
            </a:xfrm>
            <a:prstGeom prst="flowChartPunchedCard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80" name="Google Shape;580;p40"/>
            <p:cNvGrpSpPr/>
            <p:nvPr/>
          </p:nvGrpSpPr>
          <p:grpSpPr>
            <a:xfrm rot="10800000">
              <a:off x="5282495" y="238092"/>
              <a:ext cx="352548" cy="171819"/>
              <a:chOff x="4791775" y="1877500"/>
              <a:chExt cx="66725" cy="36975"/>
            </a:xfrm>
          </p:grpSpPr>
          <p:sp>
            <p:nvSpPr>
              <p:cNvPr id="581" name="Google Shape;581;p40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" name="Google Shape;582;p40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3" name="Google Shape;583;p40"/>
            <p:cNvGrpSpPr/>
            <p:nvPr/>
          </p:nvGrpSpPr>
          <p:grpSpPr>
            <a:xfrm>
              <a:off x="3211820" y="4733592"/>
              <a:ext cx="352548" cy="171819"/>
              <a:chOff x="4791775" y="1877500"/>
              <a:chExt cx="66725" cy="36975"/>
            </a:xfrm>
          </p:grpSpPr>
          <p:sp>
            <p:nvSpPr>
              <p:cNvPr id="584" name="Google Shape;584;p40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" name="Google Shape;585;p40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86" name="Google Shape;586;p40"/>
            <p:cNvSpPr/>
            <p:nvPr/>
          </p:nvSpPr>
          <p:spPr>
            <a:xfrm rot="-1143789">
              <a:off x="102379" y="156251"/>
              <a:ext cx="574952" cy="497686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40"/>
            <p:cNvSpPr/>
            <p:nvPr/>
          </p:nvSpPr>
          <p:spPr>
            <a:xfrm rot="1242158">
              <a:off x="8495554" y="4508897"/>
              <a:ext cx="574911" cy="497651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8" name="Google Shape;588;p40"/>
          <p:cNvSpPr txBox="1"/>
          <p:nvPr/>
        </p:nvSpPr>
        <p:spPr>
          <a:xfrm>
            <a:off x="494025" y="1191600"/>
            <a:ext cx="4939800" cy="3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999999"/>
                </a:solidFill>
                <a:latin typeface="Raleway"/>
                <a:ea typeface="Raleway"/>
                <a:cs typeface="Raleway"/>
                <a:sym typeface="Raleway"/>
              </a:rPr>
              <a:t>The line chart of average Launch Success Yearly Trend shows that:</a:t>
            </a:r>
            <a:endParaRPr sz="1200">
              <a:solidFill>
                <a:srgbClr val="999999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AB40"/>
              </a:buClr>
              <a:buSzPts val="1500"/>
              <a:buFont typeface="Raleway"/>
              <a:buAutoNum type="arabicPeriod"/>
            </a:pP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Landing success rate increases after 2013</a:t>
            </a:r>
            <a:b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b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The success rate remains at 0 before 2013, then rises in later</a:t>
            </a:r>
            <a:b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years, indicating improved landing performance over time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  <a:b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b="1" sz="11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1500"/>
              <a:buFont typeface="Raleway"/>
              <a:buAutoNum type="arabicPeriod"/>
            </a:pP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Later years achieve higher success rates</a:t>
            </a:r>
            <a:b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b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Most years after 2016 show success rates above 50%, with the highest values occurring around 2017 and 2019.</a:t>
            </a:r>
            <a:b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Raleway"/>
              <a:buAutoNum type="arabicPeriod"/>
            </a:pP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Yearly success rates fluctuate across different years</a:t>
            </a:r>
            <a:b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b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The success rate decreases in 2018 before increasing again in 2019, indicating variation in yearly landing outcomes.</a:t>
            </a:r>
            <a:endParaRPr b="1" sz="13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89" name="Google Shape;589;p40"/>
          <p:cNvSpPr txBox="1"/>
          <p:nvPr/>
        </p:nvSpPr>
        <p:spPr>
          <a:xfrm>
            <a:off x="494023" y="684000"/>
            <a:ext cx="4456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Launch Success Yearly Trend</a:t>
            </a:r>
            <a:endParaRPr b="1" sz="2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590" name="Google Shape;59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0800" y="1735054"/>
            <a:ext cx="3121200" cy="23771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5" name="Google Shape;595;p41"/>
          <p:cNvGrpSpPr/>
          <p:nvPr/>
        </p:nvGrpSpPr>
        <p:grpSpPr>
          <a:xfrm>
            <a:off x="36850" y="-264200"/>
            <a:ext cx="9103051" cy="5356294"/>
            <a:chOff x="36850" y="-264200"/>
            <a:chExt cx="9103051" cy="5356294"/>
          </a:xfrm>
        </p:grpSpPr>
        <p:sp>
          <p:nvSpPr>
            <p:cNvPr id="596" name="Google Shape;596;p41"/>
            <p:cNvSpPr/>
            <p:nvPr/>
          </p:nvSpPr>
          <p:spPr>
            <a:xfrm rot="1677186">
              <a:off x="7476179" y="71932"/>
              <a:ext cx="1600645" cy="666336"/>
            </a:xfrm>
            <a:prstGeom prst="triangle">
              <a:avLst>
                <a:gd fmla="val 7729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41"/>
            <p:cNvSpPr/>
            <p:nvPr/>
          </p:nvSpPr>
          <p:spPr>
            <a:xfrm flipH="1">
              <a:off x="324000" y="324000"/>
              <a:ext cx="8502600" cy="4495500"/>
            </a:xfrm>
            <a:prstGeom prst="flowChartPunchedCard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98" name="Google Shape;598;p41"/>
            <p:cNvGrpSpPr/>
            <p:nvPr/>
          </p:nvGrpSpPr>
          <p:grpSpPr>
            <a:xfrm rot="10800000">
              <a:off x="5282495" y="238092"/>
              <a:ext cx="352548" cy="171819"/>
              <a:chOff x="4791775" y="1877500"/>
              <a:chExt cx="66725" cy="36975"/>
            </a:xfrm>
          </p:grpSpPr>
          <p:sp>
            <p:nvSpPr>
              <p:cNvPr id="599" name="Google Shape;599;p41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" name="Google Shape;600;p41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01" name="Google Shape;601;p41"/>
            <p:cNvGrpSpPr/>
            <p:nvPr/>
          </p:nvGrpSpPr>
          <p:grpSpPr>
            <a:xfrm>
              <a:off x="3211820" y="4733592"/>
              <a:ext cx="352548" cy="171819"/>
              <a:chOff x="4791775" y="1877500"/>
              <a:chExt cx="66725" cy="36975"/>
            </a:xfrm>
          </p:grpSpPr>
          <p:sp>
            <p:nvSpPr>
              <p:cNvPr id="602" name="Google Shape;602;p41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" name="Google Shape;603;p41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04" name="Google Shape;604;p41"/>
            <p:cNvSpPr/>
            <p:nvPr/>
          </p:nvSpPr>
          <p:spPr>
            <a:xfrm rot="-1143789">
              <a:off x="102379" y="156251"/>
              <a:ext cx="574952" cy="497686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41"/>
            <p:cNvSpPr/>
            <p:nvPr/>
          </p:nvSpPr>
          <p:spPr>
            <a:xfrm rot="1242158">
              <a:off x="8495554" y="4508897"/>
              <a:ext cx="574911" cy="497651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6" name="Google Shape;606;p41"/>
          <p:cNvSpPr txBox="1"/>
          <p:nvPr/>
        </p:nvSpPr>
        <p:spPr>
          <a:xfrm>
            <a:off x="966055" y="1783226"/>
            <a:ext cx="3283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Results</a:t>
            </a:r>
            <a:endParaRPr b="1" sz="28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07" name="Google Shape;607;p41"/>
          <p:cNvSpPr txBox="1"/>
          <p:nvPr/>
        </p:nvSpPr>
        <p:spPr>
          <a:xfrm>
            <a:off x="867246" y="2490568"/>
            <a:ext cx="710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0</a:t>
            </a:r>
            <a:r>
              <a:rPr b="1" lang="en-GB" sz="24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1</a:t>
            </a:r>
            <a:endParaRPr b="1" sz="24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08" name="Google Shape;608;p41"/>
          <p:cNvSpPr txBox="1"/>
          <p:nvPr/>
        </p:nvSpPr>
        <p:spPr>
          <a:xfrm>
            <a:off x="1478425" y="2566375"/>
            <a:ext cx="3283200" cy="5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EDA with SQL</a:t>
            </a:r>
            <a:endParaRPr b="1" sz="16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3" name="Google Shape;613;p42"/>
          <p:cNvGrpSpPr/>
          <p:nvPr/>
        </p:nvGrpSpPr>
        <p:grpSpPr>
          <a:xfrm>
            <a:off x="36850" y="-264200"/>
            <a:ext cx="9103051" cy="5356294"/>
            <a:chOff x="36850" y="-264200"/>
            <a:chExt cx="9103051" cy="5356294"/>
          </a:xfrm>
        </p:grpSpPr>
        <p:sp>
          <p:nvSpPr>
            <p:cNvPr id="614" name="Google Shape;614;p42"/>
            <p:cNvSpPr/>
            <p:nvPr/>
          </p:nvSpPr>
          <p:spPr>
            <a:xfrm rot="1677186">
              <a:off x="7476179" y="71932"/>
              <a:ext cx="1600645" cy="666336"/>
            </a:xfrm>
            <a:prstGeom prst="triangle">
              <a:avLst>
                <a:gd fmla="val 7729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42"/>
            <p:cNvSpPr/>
            <p:nvPr/>
          </p:nvSpPr>
          <p:spPr>
            <a:xfrm flipH="1">
              <a:off x="324000" y="324000"/>
              <a:ext cx="8502600" cy="4495500"/>
            </a:xfrm>
            <a:prstGeom prst="flowChartPunchedCard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16" name="Google Shape;616;p42"/>
            <p:cNvGrpSpPr/>
            <p:nvPr/>
          </p:nvGrpSpPr>
          <p:grpSpPr>
            <a:xfrm rot="10800000">
              <a:off x="5282495" y="238092"/>
              <a:ext cx="352548" cy="171819"/>
              <a:chOff x="4791775" y="1877500"/>
              <a:chExt cx="66725" cy="36975"/>
            </a:xfrm>
          </p:grpSpPr>
          <p:sp>
            <p:nvSpPr>
              <p:cNvPr id="617" name="Google Shape;617;p42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8" name="Google Shape;618;p42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19" name="Google Shape;619;p42"/>
            <p:cNvGrpSpPr/>
            <p:nvPr/>
          </p:nvGrpSpPr>
          <p:grpSpPr>
            <a:xfrm>
              <a:off x="3211820" y="4733592"/>
              <a:ext cx="352548" cy="171819"/>
              <a:chOff x="4791775" y="1877500"/>
              <a:chExt cx="66725" cy="36975"/>
            </a:xfrm>
          </p:grpSpPr>
          <p:sp>
            <p:nvSpPr>
              <p:cNvPr id="620" name="Google Shape;620;p42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" name="Google Shape;621;p42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22" name="Google Shape;622;p42"/>
            <p:cNvSpPr/>
            <p:nvPr/>
          </p:nvSpPr>
          <p:spPr>
            <a:xfrm rot="-1143789">
              <a:off x="102379" y="156251"/>
              <a:ext cx="574952" cy="497686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42"/>
            <p:cNvSpPr/>
            <p:nvPr/>
          </p:nvSpPr>
          <p:spPr>
            <a:xfrm rot="1242158">
              <a:off x="8495554" y="4508897"/>
              <a:ext cx="574911" cy="497651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4" name="Google Shape;624;p42"/>
          <p:cNvSpPr txBox="1"/>
          <p:nvPr/>
        </p:nvSpPr>
        <p:spPr>
          <a:xfrm>
            <a:off x="494023" y="684000"/>
            <a:ext cx="5065200" cy="5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All Launch Site Names</a:t>
            </a:r>
            <a:endParaRPr b="1" sz="2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25" name="Google Shape;625;p42"/>
          <p:cNvSpPr txBox="1"/>
          <p:nvPr/>
        </p:nvSpPr>
        <p:spPr>
          <a:xfrm>
            <a:off x="494026" y="1184400"/>
            <a:ext cx="7418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Find the names of the launch sites.</a:t>
            </a:r>
            <a:endParaRPr sz="13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26" name="Google Shape;626;p42"/>
          <p:cNvSpPr txBox="1"/>
          <p:nvPr/>
        </p:nvSpPr>
        <p:spPr>
          <a:xfrm>
            <a:off x="494026" y="1769928"/>
            <a:ext cx="2985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SQL Query</a:t>
            </a: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:</a:t>
            </a:r>
            <a:endParaRPr b="1" sz="11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27" name="Google Shape;627;p42"/>
          <p:cNvSpPr txBox="1"/>
          <p:nvPr/>
        </p:nvSpPr>
        <p:spPr>
          <a:xfrm>
            <a:off x="494026" y="2701950"/>
            <a:ext cx="2985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SQL </a:t>
            </a: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Query Result:</a:t>
            </a:r>
            <a:endParaRPr b="1" sz="11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628" name="Google Shape;628;p42" title="Slide 30 - SQL Que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046" y="2172231"/>
            <a:ext cx="8106617" cy="307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2"/>
          <p:cNvSpPr txBox="1"/>
          <p:nvPr/>
        </p:nvSpPr>
        <p:spPr>
          <a:xfrm>
            <a:off x="2710269" y="2701950"/>
            <a:ext cx="52482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SQL Explanation:</a:t>
            </a:r>
            <a:endParaRPr b="1" sz="1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Using </a:t>
            </a: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DISTINCT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returns only unique values from the 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LAUNCH_SITE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column of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the 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SPACEXTABLE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table.</a:t>
            </a:r>
            <a:b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b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The query returns the different launch locations used in the </a:t>
            </a: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SpaceX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launch dataset.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630" name="Google Shape;630;p42" title="Slide 30 - SQL Query Resul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600" y="3078000"/>
            <a:ext cx="1411200" cy="1505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5" name="Google Shape;635;p43"/>
          <p:cNvGrpSpPr/>
          <p:nvPr/>
        </p:nvGrpSpPr>
        <p:grpSpPr>
          <a:xfrm>
            <a:off x="36850" y="-264200"/>
            <a:ext cx="9103051" cy="5356294"/>
            <a:chOff x="36850" y="-264200"/>
            <a:chExt cx="9103051" cy="5356294"/>
          </a:xfrm>
        </p:grpSpPr>
        <p:sp>
          <p:nvSpPr>
            <p:cNvPr id="636" name="Google Shape;636;p43"/>
            <p:cNvSpPr/>
            <p:nvPr/>
          </p:nvSpPr>
          <p:spPr>
            <a:xfrm rot="1677186">
              <a:off x="7476179" y="71932"/>
              <a:ext cx="1600645" cy="666336"/>
            </a:xfrm>
            <a:prstGeom prst="triangle">
              <a:avLst>
                <a:gd fmla="val 7729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43"/>
            <p:cNvSpPr/>
            <p:nvPr/>
          </p:nvSpPr>
          <p:spPr>
            <a:xfrm flipH="1">
              <a:off x="324000" y="324000"/>
              <a:ext cx="8502600" cy="4495500"/>
            </a:xfrm>
            <a:prstGeom prst="flowChartPunchedCard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38" name="Google Shape;638;p43"/>
            <p:cNvGrpSpPr/>
            <p:nvPr/>
          </p:nvGrpSpPr>
          <p:grpSpPr>
            <a:xfrm rot="10800000">
              <a:off x="5282495" y="238092"/>
              <a:ext cx="352548" cy="171819"/>
              <a:chOff x="4791775" y="1877500"/>
              <a:chExt cx="66725" cy="36975"/>
            </a:xfrm>
          </p:grpSpPr>
          <p:sp>
            <p:nvSpPr>
              <p:cNvPr id="639" name="Google Shape;639;p43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0" name="Google Shape;640;p43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41" name="Google Shape;641;p43"/>
            <p:cNvGrpSpPr/>
            <p:nvPr/>
          </p:nvGrpSpPr>
          <p:grpSpPr>
            <a:xfrm>
              <a:off x="3211820" y="4733592"/>
              <a:ext cx="352548" cy="171819"/>
              <a:chOff x="4791775" y="1877500"/>
              <a:chExt cx="66725" cy="36975"/>
            </a:xfrm>
          </p:grpSpPr>
          <p:sp>
            <p:nvSpPr>
              <p:cNvPr id="642" name="Google Shape;642;p43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3" name="Google Shape;643;p43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44" name="Google Shape;644;p43"/>
            <p:cNvSpPr/>
            <p:nvPr/>
          </p:nvSpPr>
          <p:spPr>
            <a:xfrm rot="-1143789">
              <a:off x="102379" y="156251"/>
              <a:ext cx="574952" cy="497686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43"/>
            <p:cNvSpPr/>
            <p:nvPr/>
          </p:nvSpPr>
          <p:spPr>
            <a:xfrm rot="1242158">
              <a:off x="8495554" y="4508897"/>
              <a:ext cx="574911" cy="497651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6" name="Google Shape;646;p43"/>
          <p:cNvSpPr txBox="1"/>
          <p:nvPr/>
        </p:nvSpPr>
        <p:spPr>
          <a:xfrm>
            <a:off x="494025" y="684000"/>
            <a:ext cx="5066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Launch Site Names Begin with 'CCA'</a:t>
            </a:r>
            <a:endParaRPr b="1" sz="2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47" name="Google Shape;647;p43"/>
          <p:cNvSpPr txBox="1"/>
          <p:nvPr/>
        </p:nvSpPr>
        <p:spPr>
          <a:xfrm>
            <a:off x="494026" y="1184400"/>
            <a:ext cx="7418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Find 5 records where launch sites begin with `CCA`.</a:t>
            </a:r>
            <a:endParaRPr sz="13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48" name="Google Shape;648;p43"/>
          <p:cNvSpPr txBox="1"/>
          <p:nvPr/>
        </p:nvSpPr>
        <p:spPr>
          <a:xfrm>
            <a:off x="494026" y="1769928"/>
            <a:ext cx="2985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SQL Query:</a:t>
            </a:r>
            <a:endParaRPr b="1" sz="11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49" name="Google Shape;649;p43"/>
          <p:cNvSpPr txBox="1"/>
          <p:nvPr/>
        </p:nvSpPr>
        <p:spPr>
          <a:xfrm>
            <a:off x="494026" y="2701950"/>
            <a:ext cx="2985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SQL Query Result:</a:t>
            </a:r>
            <a:endParaRPr b="1" sz="11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50" name="Google Shape;650;p43"/>
          <p:cNvSpPr txBox="1"/>
          <p:nvPr/>
        </p:nvSpPr>
        <p:spPr>
          <a:xfrm>
            <a:off x="2710269" y="2701950"/>
            <a:ext cx="52482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SQL Explanation:</a:t>
            </a:r>
            <a:endParaRPr b="1" sz="1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Using </a:t>
            </a: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LIKE 'CCA%'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filters the 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LAUNCH_SITE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column of the 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SPACEXTABLE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table to identify launch sites beginning with ‘CCA’., and </a:t>
            </a: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LIMIT 5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displays the first five matching records from the </a:t>
            </a: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SpaceX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launch dataset.</a:t>
            </a:r>
            <a:b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b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The query returns the first five launch site records matching the specified pattern in the dataset.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651" name="Google Shape;651;p43" title="Slide 31 - SQL Query Resul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600" y="3078000"/>
            <a:ext cx="1178148" cy="15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Google Shape;652;p43" title="Slide 31 - SQL Quer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600" y="2170800"/>
            <a:ext cx="8107200" cy="284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7" name="Google Shape;657;p44"/>
          <p:cNvGrpSpPr/>
          <p:nvPr/>
        </p:nvGrpSpPr>
        <p:grpSpPr>
          <a:xfrm>
            <a:off x="36850" y="-264200"/>
            <a:ext cx="9103051" cy="5356294"/>
            <a:chOff x="36850" y="-264200"/>
            <a:chExt cx="9103051" cy="5356294"/>
          </a:xfrm>
        </p:grpSpPr>
        <p:sp>
          <p:nvSpPr>
            <p:cNvPr id="658" name="Google Shape;658;p44"/>
            <p:cNvSpPr/>
            <p:nvPr/>
          </p:nvSpPr>
          <p:spPr>
            <a:xfrm rot="1677186">
              <a:off x="7476179" y="71932"/>
              <a:ext cx="1600645" cy="666336"/>
            </a:xfrm>
            <a:prstGeom prst="triangle">
              <a:avLst>
                <a:gd fmla="val 7729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44"/>
            <p:cNvSpPr/>
            <p:nvPr/>
          </p:nvSpPr>
          <p:spPr>
            <a:xfrm flipH="1">
              <a:off x="324000" y="324000"/>
              <a:ext cx="8502600" cy="4495500"/>
            </a:xfrm>
            <a:prstGeom prst="flowChartPunchedCard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60" name="Google Shape;660;p44"/>
            <p:cNvGrpSpPr/>
            <p:nvPr/>
          </p:nvGrpSpPr>
          <p:grpSpPr>
            <a:xfrm rot="10800000">
              <a:off x="5282495" y="238092"/>
              <a:ext cx="352548" cy="171819"/>
              <a:chOff x="4791775" y="1877500"/>
              <a:chExt cx="66725" cy="36975"/>
            </a:xfrm>
          </p:grpSpPr>
          <p:sp>
            <p:nvSpPr>
              <p:cNvPr id="661" name="Google Shape;661;p44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2" name="Google Shape;662;p44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63" name="Google Shape;663;p44"/>
            <p:cNvGrpSpPr/>
            <p:nvPr/>
          </p:nvGrpSpPr>
          <p:grpSpPr>
            <a:xfrm>
              <a:off x="3211820" y="4733592"/>
              <a:ext cx="352548" cy="171819"/>
              <a:chOff x="4791775" y="1877500"/>
              <a:chExt cx="66725" cy="36975"/>
            </a:xfrm>
          </p:grpSpPr>
          <p:sp>
            <p:nvSpPr>
              <p:cNvPr id="664" name="Google Shape;664;p44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5" name="Google Shape;665;p44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66" name="Google Shape;666;p44"/>
            <p:cNvSpPr/>
            <p:nvPr/>
          </p:nvSpPr>
          <p:spPr>
            <a:xfrm rot="-1143789">
              <a:off x="102379" y="156251"/>
              <a:ext cx="574952" cy="497686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44"/>
            <p:cNvSpPr/>
            <p:nvPr/>
          </p:nvSpPr>
          <p:spPr>
            <a:xfrm rot="1242158">
              <a:off x="8495554" y="4508897"/>
              <a:ext cx="574911" cy="497651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8" name="Google Shape;668;p44"/>
          <p:cNvSpPr txBox="1"/>
          <p:nvPr/>
        </p:nvSpPr>
        <p:spPr>
          <a:xfrm>
            <a:off x="494025" y="684000"/>
            <a:ext cx="5066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Total Payload Mass</a:t>
            </a:r>
            <a:endParaRPr b="1" sz="2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69" name="Google Shape;669;p44"/>
          <p:cNvSpPr txBox="1"/>
          <p:nvPr/>
        </p:nvSpPr>
        <p:spPr>
          <a:xfrm>
            <a:off x="494026" y="1184400"/>
            <a:ext cx="7418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Calculate the total payload carried by boosters from NASA.</a:t>
            </a:r>
            <a:endParaRPr sz="13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70" name="Google Shape;670;p44"/>
          <p:cNvSpPr txBox="1"/>
          <p:nvPr/>
        </p:nvSpPr>
        <p:spPr>
          <a:xfrm>
            <a:off x="494026" y="1769928"/>
            <a:ext cx="2985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SQL Query:</a:t>
            </a:r>
            <a:endParaRPr b="1" sz="11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71" name="Google Shape;671;p44"/>
          <p:cNvSpPr txBox="1"/>
          <p:nvPr/>
        </p:nvSpPr>
        <p:spPr>
          <a:xfrm>
            <a:off x="494026" y="2701950"/>
            <a:ext cx="2985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SQL Query Result:</a:t>
            </a:r>
            <a:endParaRPr b="1" sz="11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72" name="Google Shape;672;p44"/>
          <p:cNvSpPr txBox="1"/>
          <p:nvPr/>
        </p:nvSpPr>
        <p:spPr>
          <a:xfrm>
            <a:off x="2710269" y="2701950"/>
            <a:ext cx="52482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SQL Explanation:</a:t>
            </a:r>
            <a:endParaRPr b="1" sz="1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Using </a:t>
            </a: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SUM(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PAYLOAD_MASS__KG_</a:t>
            </a: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)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calculates the total payload mass from the 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PAYLOAD_MASS__KG_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column of the 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SPACEXTABLE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table for records 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WHERE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the 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CUSTOMER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is 'NASA (CRS)'.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The query returns the total payload mass carried by boosters launched for NASA (CRS) missions in the </a:t>
            </a: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SpaceX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launch dataset.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673" name="Google Shape;673;p44" title="Slide 32 - SQL Query Resul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600" y="3078000"/>
            <a:ext cx="1411200" cy="426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674" name="Google Shape;674;p44" title="Slide 32 - SQL Quer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600" y="2170800"/>
            <a:ext cx="8107201" cy="3639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9" name="Google Shape;679;p45"/>
          <p:cNvGrpSpPr/>
          <p:nvPr/>
        </p:nvGrpSpPr>
        <p:grpSpPr>
          <a:xfrm>
            <a:off x="36850" y="-264200"/>
            <a:ext cx="9103051" cy="5356294"/>
            <a:chOff x="36850" y="-264200"/>
            <a:chExt cx="9103051" cy="5356294"/>
          </a:xfrm>
        </p:grpSpPr>
        <p:sp>
          <p:nvSpPr>
            <p:cNvPr id="680" name="Google Shape;680;p45"/>
            <p:cNvSpPr/>
            <p:nvPr/>
          </p:nvSpPr>
          <p:spPr>
            <a:xfrm rot="1677186">
              <a:off x="7476179" y="71932"/>
              <a:ext cx="1600645" cy="666336"/>
            </a:xfrm>
            <a:prstGeom prst="triangle">
              <a:avLst>
                <a:gd fmla="val 7729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45"/>
            <p:cNvSpPr/>
            <p:nvPr/>
          </p:nvSpPr>
          <p:spPr>
            <a:xfrm flipH="1">
              <a:off x="324000" y="324000"/>
              <a:ext cx="8502600" cy="4495500"/>
            </a:xfrm>
            <a:prstGeom prst="flowChartPunchedCard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82" name="Google Shape;682;p45"/>
            <p:cNvGrpSpPr/>
            <p:nvPr/>
          </p:nvGrpSpPr>
          <p:grpSpPr>
            <a:xfrm rot="10800000">
              <a:off x="5282495" y="238092"/>
              <a:ext cx="352548" cy="171819"/>
              <a:chOff x="4791775" y="1877500"/>
              <a:chExt cx="66725" cy="36975"/>
            </a:xfrm>
          </p:grpSpPr>
          <p:sp>
            <p:nvSpPr>
              <p:cNvPr id="683" name="Google Shape;683;p45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4" name="Google Shape;684;p45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85" name="Google Shape;685;p45"/>
            <p:cNvGrpSpPr/>
            <p:nvPr/>
          </p:nvGrpSpPr>
          <p:grpSpPr>
            <a:xfrm>
              <a:off x="3211820" y="4733592"/>
              <a:ext cx="352548" cy="171819"/>
              <a:chOff x="4791775" y="1877500"/>
              <a:chExt cx="66725" cy="36975"/>
            </a:xfrm>
          </p:grpSpPr>
          <p:sp>
            <p:nvSpPr>
              <p:cNvPr id="686" name="Google Shape;686;p45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7" name="Google Shape;687;p45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88" name="Google Shape;688;p45"/>
            <p:cNvSpPr/>
            <p:nvPr/>
          </p:nvSpPr>
          <p:spPr>
            <a:xfrm rot="-1143789">
              <a:off x="102379" y="156251"/>
              <a:ext cx="574952" cy="497686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45"/>
            <p:cNvSpPr/>
            <p:nvPr/>
          </p:nvSpPr>
          <p:spPr>
            <a:xfrm rot="1242158">
              <a:off x="8495554" y="4508897"/>
              <a:ext cx="574911" cy="497651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0" name="Google Shape;690;p45"/>
          <p:cNvSpPr txBox="1"/>
          <p:nvPr/>
        </p:nvSpPr>
        <p:spPr>
          <a:xfrm>
            <a:off x="494025" y="684000"/>
            <a:ext cx="5066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Average Payload Mass by F9 v1.1</a:t>
            </a:r>
            <a:endParaRPr b="1" sz="2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91" name="Google Shape;691;p45"/>
          <p:cNvSpPr txBox="1"/>
          <p:nvPr/>
        </p:nvSpPr>
        <p:spPr>
          <a:xfrm>
            <a:off x="494026" y="1184400"/>
            <a:ext cx="7418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Calculate the average payload mass carried by booster version F9 v1.1.</a:t>
            </a:r>
            <a:endParaRPr sz="13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92" name="Google Shape;692;p45"/>
          <p:cNvSpPr txBox="1"/>
          <p:nvPr/>
        </p:nvSpPr>
        <p:spPr>
          <a:xfrm>
            <a:off x="494026" y="1769928"/>
            <a:ext cx="2985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SQL Query:</a:t>
            </a:r>
            <a:endParaRPr b="1" sz="11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93" name="Google Shape;693;p45"/>
          <p:cNvSpPr txBox="1"/>
          <p:nvPr/>
        </p:nvSpPr>
        <p:spPr>
          <a:xfrm>
            <a:off x="494026" y="2701950"/>
            <a:ext cx="2985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SQL Query Result:</a:t>
            </a:r>
            <a:endParaRPr b="1" sz="11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94" name="Google Shape;694;p45"/>
          <p:cNvSpPr txBox="1"/>
          <p:nvPr/>
        </p:nvSpPr>
        <p:spPr>
          <a:xfrm>
            <a:off x="2710269" y="2701950"/>
            <a:ext cx="52482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SQL Explanation:</a:t>
            </a:r>
            <a:endParaRPr b="1" sz="1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Using </a:t>
            </a: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AVG(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PAYLOAD_MASS__KG_</a:t>
            </a: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)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calculates the average payload mass from the 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PAYLOAD_MASS__KG_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column of the 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SPACEXTABLE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table for records 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WHERE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the 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BOOSTER_VERSION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is 'F9 v1.1'.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The query returns the average payload mass carried by the F9 v1.1 booster version in the </a:t>
            </a: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SpaceX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launch dataset.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695" name="Google Shape;695;p45" title="Slide 33 - SQL Query Resul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600" y="3078000"/>
            <a:ext cx="1411200" cy="405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696" name="Google Shape;696;p45" title="Slide 33 - SQL Quer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600" y="2170800"/>
            <a:ext cx="8107200" cy="4035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1" name="Google Shape;701;p46"/>
          <p:cNvGrpSpPr/>
          <p:nvPr/>
        </p:nvGrpSpPr>
        <p:grpSpPr>
          <a:xfrm>
            <a:off x="36850" y="-264200"/>
            <a:ext cx="9103051" cy="5356294"/>
            <a:chOff x="36850" y="-264200"/>
            <a:chExt cx="9103051" cy="5356294"/>
          </a:xfrm>
        </p:grpSpPr>
        <p:sp>
          <p:nvSpPr>
            <p:cNvPr id="702" name="Google Shape;702;p46"/>
            <p:cNvSpPr/>
            <p:nvPr/>
          </p:nvSpPr>
          <p:spPr>
            <a:xfrm rot="1677186">
              <a:off x="7476179" y="71932"/>
              <a:ext cx="1600645" cy="666336"/>
            </a:xfrm>
            <a:prstGeom prst="triangle">
              <a:avLst>
                <a:gd fmla="val 7729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46"/>
            <p:cNvSpPr/>
            <p:nvPr/>
          </p:nvSpPr>
          <p:spPr>
            <a:xfrm flipH="1">
              <a:off x="324000" y="324000"/>
              <a:ext cx="8502600" cy="4495500"/>
            </a:xfrm>
            <a:prstGeom prst="flowChartPunchedCard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04" name="Google Shape;704;p46"/>
            <p:cNvGrpSpPr/>
            <p:nvPr/>
          </p:nvGrpSpPr>
          <p:grpSpPr>
            <a:xfrm rot="10800000">
              <a:off x="5282495" y="238092"/>
              <a:ext cx="352548" cy="171819"/>
              <a:chOff x="4791775" y="1877500"/>
              <a:chExt cx="66725" cy="36975"/>
            </a:xfrm>
          </p:grpSpPr>
          <p:sp>
            <p:nvSpPr>
              <p:cNvPr id="705" name="Google Shape;705;p46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6" name="Google Shape;706;p46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07" name="Google Shape;707;p46"/>
            <p:cNvGrpSpPr/>
            <p:nvPr/>
          </p:nvGrpSpPr>
          <p:grpSpPr>
            <a:xfrm>
              <a:off x="3211820" y="4733592"/>
              <a:ext cx="352548" cy="171819"/>
              <a:chOff x="4791775" y="1877500"/>
              <a:chExt cx="66725" cy="36975"/>
            </a:xfrm>
          </p:grpSpPr>
          <p:sp>
            <p:nvSpPr>
              <p:cNvPr id="708" name="Google Shape;708;p46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9" name="Google Shape;709;p46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10" name="Google Shape;710;p46"/>
            <p:cNvSpPr/>
            <p:nvPr/>
          </p:nvSpPr>
          <p:spPr>
            <a:xfrm rot="-1143789">
              <a:off x="102379" y="156251"/>
              <a:ext cx="574952" cy="497686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46"/>
            <p:cNvSpPr/>
            <p:nvPr/>
          </p:nvSpPr>
          <p:spPr>
            <a:xfrm rot="1242158">
              <a:off x="8495554" y="4508897"/>
              <a:ext cx="574911" cy="497651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2" name="Google Shape;712;p46"/>
          <p:cNvSpPr txBox="1"/>
          <p:nvPr/>
        </p:nvSpPr>
        <p:spPr>
          <a:xfrm>
            <a:off x="494025" y="684000"/>
            <a:ext cx="5066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First Successful Ground Landing Date</a:t>
            </a:r>
            <a:endParaRPr b="1" sz="2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13" name="Google Shape;713;p46"/>
          <p:cNvSpPr txBox="1"/>
          <p:nvPr/>
        </p:nvSpPr>
        <p:spPr>
          <a:xfrm>
            <a:off x="494026" y="1184400"/>
            <a:ext cx="7418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Find the dates of the first successful landing outcome on ground pad.</a:t>
            </a:r>
            <a:endParaRPr sz="13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14" name="Google Shape;714;p46"/>
          <p:cNvSpPr txBox="1"/>
          <p:nvPr/>
        </p:nvSpPr>
        <p:spPr>
          <a:xfrm>
            <a:off x="494026" y="1769928"/>
            <a:ext cx="2985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SQL Query:</a:t>
            </a:r>
            <a:endParaRPr b="1" sz="11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15" name="Google Shape;715;p46"/>
          <p:cNvSpPr txBox="1"/>
          <p:nvPr/>
        </p:nvSpPr>
        <p:spPr>
          <a:xfrm>
            <a:off x="494026" y="2701950"/>
            <a:ext cx="2985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SQL Query Result:</a:t>
            </a:r>
            <a:endParaRPr b="1" sz="11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16" name="Google Shape;716;p46"/>
          <p:cNvSpPr txBox="1"/>
          <p:nvPr/>
        </p:nvSpPr>
        <p:spPr>
          <a:xfrm>
            <a:off x="2710269" y="2701950"/>
            <a:ext cx="52482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SQL Explanation:</a:t>
            </a:r>
            <a:endParaRPr b="1" sz="1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Using </a:t>
            </a: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MIN(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DATE</a:t>
            </a: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)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returns the earliest date from the 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DATE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column of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the 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SPACEXTABLE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table for records 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WHERE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the 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Landing_Outcome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is</a:t>
            </a:r>
            <a:b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'Success (ground pad)'.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The query returns the first successful ground pad landing date in the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SpaceX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launch dataset.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717" name="Google Shape;717;p46" title="Slide 34 - SQL Que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600" y="2170800"/>
            <a:ext cx="8107199" cy="363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718" name="Google Shape;718;p46" title="Slide 34 - SQL Query Resul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600" y="3078000"/>
            <a:ext cx="1411200" cy="3168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3" name="Google Shape;723;p47"/>
          <p:cNvGrpSpPr/>
          <p:nvPr/>
        </p:nvGrpSpPr>
        <p:grpSpPr>
          <a:xfrm>
            <a:off x="36850" y="-264200"/>
            <a:ext cx="9103051" cy="5356294"/>
            <a:chOff x="36850" y="-264200"/>
            <a:chExt cx="9103051" cy="5356294"/>
          </a:xfrm>
        </p:grpSpPr>
        <p:sp>
          <p:nvSpPr>
            <p:cNvPr id="724" name="Google Shape;724;p47"/>
            <p:cNvSpPr/>
            <p:nvPr/>
          </p:nvSpPr>
          <p:spPr>
            <a:xfrm rot="1677186">
              <a:off x="7476179" y="71932"/>
              <a:ext cx="1600645" cy="666336"/>
            </a:xfrm>
            <a:prstGeom prst="triangle">
              <a:avLst>
                <a:gd fmla="val 7729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47"/>
            <p:cNvSpPr/>
            <p:nvPr/>
          </p:nvSpPr>
          <p:spPr>
            <a:xfrm flipH="1">
              <a:off x="324000" y="324000"/>
              <a:ext cx="8502600" cy="4495500"/>
            </a:xfrm>
            <a:prstGeom prst="flowChartPunchedCard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26" name="Google Shape;726;p47"/>
            <p:cNvGrpSpPr/>
            <p:nvPr/>
          </p:nvGrpSpPr>
          <p:grpSpPr>
            <a:xfrm rot="10800000">
              <a:off x="5282495" y="238092"/>
              <a:ext cx="352548" cy="171819"/>
              <a:chOff x="4791775" y="1877500"/>
              <a:chExt cx="66725" cy="36975"/>
            </a:xfrm>
          </p:grpSpPr>
          <p:sp>
            <p:nvSpPr>
              <p:cNvPr id="727" name="Google Shape;727;p47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8" name="Google Shape;728;p47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29" name="Google Shape;729;p47"/>
            <p:cNvGrpSpPr/>
            <p:nvPr/>
          </p:nvGrpSpPr>
          <p:grpSpPr>
            <a:xfrm>
              <a:off x="3211820" y="4733592"/>
              <a:ext cx="352548" cy="171819"/>
              <a:chOff x="4791775" y="1877500"/>
              <a:chExt cx="66725" cy="36975"/>
            </a:xfrm>
          </p:grpSpPr>
          <p:sp>
            <p:nvSpPr>
              <p:cNvPr id="730" name="Google Shape;730;p47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1" name="Google Shape;731;p47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32" name="Google Shape;732;p47"/>
            <p:cNvSpPr/>
            <p:nvPr/>
          </p:nvSpPr>
          <p:spPr>
            <a:xfrm rot="-1143789">
              <a:off x="102379" y="156251"/>
              <a:ext cx="574952" cy="497686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47"/>
            <p:cNvSpPr/>
            <p:nvPr/>
          </p:nvSpPr>
          <p:spPr>
            <a:xfrm rot="1242158">
              <a:off x="8495554" y="4508897"/>
              <a:ext cx="574911" cy="497651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4" name="Google Shape;734;p47"/>
          <p:cNvSpPr txBox="1"/>
          <p:nvPr/>
        </p:nvSpPr>
        <p:spPr>
          <a:xfrm>
            <a:off x="494025" y="530319"/>
            <a:ext cx="7047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Successful Drone Ship Landing with Payload between 4000 and 6000</a:t>
            </a:r>
            <a:endParaRPr b="1" sz="2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35" name="Google Shape;735;p47"/>
          <p:cNvSpPr txBox="1"/>
          <p:nvPr/>
        </p:nvSpPr>
        <p:spPr>
          <a:xfrm>
            <a:off x="494026" y="1361919"/>
            <a:ext cx="74184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List the names of boosters which have successfully landed on drone ship and</a:t>
            </a:r>
            <a:br>
              <a:rPr lang="en-GB" sz="13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-GB" sz="13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had payload mass greater than 4000 but less than 6000.</a:t>
            </a:r>
            <a:endParaRPr sz="13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36" name="Google Shape;736;p47"/>
          <p:cNvSpPr txBox="1"/>
          <p:nvPr/>
        </p:nvSpPr>
        <p:spPr>
          <a:xfrm>
            <a:off x="494026" y="1945945"/>
            <a:ext cx="2985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SQL Query:</a:t>
            </a:r>
            <a:endParaRPr b="1" sz="11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37" name="Google Shape;737;p47"/>
          <p:cNvSpPr txBox="1"/>
          <p:nvPr/>
        </p:nvSpPr>
        <p:spPr>
          <a:xfrm>
            <a:off x="2710269" y="2910898"/>
            <a:ext cx="52482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SQL Explanation:</a:t>
            </a:r>
            <a:endParaRPr b="1" sz="1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Using the 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Landing_Outcome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and 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PAYLOAD_MASS__KG_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columns from the 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SPACEXTABLE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table identifies records 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WHERE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the 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Landing_Outcome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is 'Success (drone ship)' and the 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PAYLOAD_MASS__KG_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is greater than 4000 and less than 6000.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The query returns the booster versions that successfully landed on a drone ship with payload masses within the specified range in the </a:t>
            </a: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SpaceX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launch dataset.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738" name="Google Shape;738;p47" title="Slide 35 - SQL Que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600" y="2346016"/>
            <a:ext cx="8107199" cy="486432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47"/>
          <p:cNvSpPr txBox="1"/>
          <p:nvPr/>
        </p:nvSpPr>
        <p:spPr>
          <a:xfrm>
            <a:off x="494026" y="2911448"/>
            <a:ext cx="2985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SQL Query Result:</a:t>
            </a:r>
            <a:endParaRPr b="1" sz="11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740" name="Google Shape;740;p47" title="Slide 35 - SQL Query Resul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600" y="3288855"/>
            <a:ext cx="1422286" cy="13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5" name="Google Shape;745;p48"/>
          <p:cNvGrpSpPr/>
          <p:nvPr/>
        </p:nvGrpSpPr>
        <p:grpSpPr>
          <a:xfrm>
            <a:off x="36850" y="-264200"/>
            <a:ext cx="9103051" cy="5356294"/>
            <a:chOff x="36850" y="-264200"/>
            <a:chExt cx="9103051" cy="5356294"/>
          </a:xfrm>
        </p:grpSpPr>
        <p:sp>
          <p:nvSpPr>
            <p:cNvPr id="746" name="Google Shape;746;p48"/>
            <p:cNvSpPr/>
            <p:nvPr/>
          </p:nvSpPr>
          <p:spPr>
            <a:xfrm rot="1677186">
              <a:off x="7476179" y="71932"/>
              <a:ext cx="1600645" cy="666336"/>
            </a:xfrm>
            <a:prstGeom prst="triangle">
              <a:avLst>
                <a:gd fmla="val 7729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48"/>
            <p:cNvSpPr/>
            <p:nvPr/>
          </p:nvSpPr>
          <p:spPr>
            <a:xfrm flipH="1">
              <a:off x="324000" y="324000"/>
              <a:ext cx="8502600" cy="4495500"/>
            </a:xfrm>
            <a:prstGeom prst="flowChartPunchedCard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48" name="Google Shape;748;p48"/>
            <p:cNvGrpSpPr/>
            <p:nvPr/>
          </p:nvGrpSpPr>
          <p:grpSpPr>
            <a:xfrm rot="10800000">
              <a:off x="5282495" y="238092"/>
              <a:ext cx="352548" cy="171819"/>
              <a:chOff x="4791775" y="1877500"/>
              <a:chExt cx="66725" cy="36975"/>
            </a:xfrm>
          </p:grpSpPr>
          <p:sp>
            <p:nvSpPr>
              <p:cNvPr id="749" name="Google Shape;749;p48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0" name="Google Shape;750;p48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1" name="Google Shape;751;p48"/>
            <p:cNvGrpSpPr/>
            <p:nvPr/>
          </p:nvGrpSpPr>
          <p:grpSpPr>
            <a:xfrm>
              <a:off x="3211820" y="4733592"/>
              <a:ext cx="352548" cy="171819"/>
              <a:chOff x="4791775" y="1877500"/>
              <a:chExt cx="66725" cy="36975"/>
            </a:xfrm>
          </p:grpSpPr>
          <p:sp>
            <p:nvSpPr>
              <p:cNvPr id="752" name="Google Shape;752;p48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3" name="Google Shape;753;p48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54" name="Google Shape;754;p48"/>
            <p:cNvSpPr/>
            <p:nvPr/>
          </p:nvSpPr>
          <p:spPr>
            <a:xfrm rot="-1143789">
              <a:off x="102379" y="156251"/>
              <a:ext cx="574952" cy="497686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48"/>
            <p:cNvSpPr/>
            <p:nvPr/>
          </p:nvSpPr>
          <p:spPr>
            <a:xfrm rot="1242158">
              <a:off x="8495554" y="4508897"/>
              <a:ext cx="574911" cy="497651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6" name="Google Shape;756;p48"/>
          <p:cNvSpPr txBox="1"/>
          <p:nvPr/>
        </p:nvSpPr>
        <p:spPr>
          <a:xfrm>
            <a:off x="494025" y="530319"/>
            <a:ext cx="7047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Total Number of Successful and Failure</a:t>
            </a:r>
            <a:endParaRPr b="1" sz="2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Mission Outcomes</a:t>
            </a:r>
            <a:endParaRPr b="1" sz="2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57" name="Google Shape;757;p48"/>
          <p:cNvSpPr txBox="1"/>
          <p:nvPr/>
        </p:nvSpPr>
        <p:spPr>
          <a:xfrm>
            <a:off x="494026" y="1361919"/>
            <a:ext cx="7418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Calculate the total number of successful and failure mission outcomes.</a:t>
            </a:r>
            <a:endParaRPr sz="13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58" name="Google Shape;758;p48"/>
          <p:cNvSpPr txBox="1"/>
          <p:nvPr/>
        </p:nvSpPr>
        <p:spPr>
          <a:xfrm>
            <a:off x="494026" y="1945945"/>
            <a:ext cx="2985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SQL Query:</a:t>
            </a:r>
            <a:endParaRPr b="1" sz="11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59" name="Google Shape;759;p48"/>
          <p:cNvSpPr txBox="1"/>
          <p:nvPr/>
        </p:nvSpPr>
        <p:spPr>
          <a:xfrm>
            <a:off x="2710269" y="2910898"/>
            <a:ext cx="52482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SQL Explanation:</a:t>
            </a:r>
            <a:endParaRPr b="1" sz="1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Using </a:t>
            </a: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COUNT(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MISSION_OUTCOME</a:t>
            </a: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)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calculates the total number of records for each 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MISSION_OUTCOME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category from the 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SPACEXTABLE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table.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The query returns the total number of successful and failure mission outcomes in the </a:t>
            </a: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SpaceX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launch dataset.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60" name="Google Shape;760;p48"/>
          <p:cNvSpPr txBox="1"/>
          <p:nvPr/>
        </p:nvSpPr>
        <p:spPr>
          <a:xfrm>
            <a:off x="494026" y="2910898"/>
            <a:ext cx="2985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SQL Query Result:</a:t>
            </a:r>
            <a:endParaRPr b="1" sz="11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761" name="Google Shape;761;p48" title="Slide 36 - SQL Query Resul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600" y="3290400"/>
            <a:ext cx="1411200" cy="615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762" name="Google Shape;762;p48" title="Slide 36 - SQL Quer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600" y="2347200"/>
            <a:ext cx="8107201" cy="284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7" name="Google Shape;767;p49"/>
          <p:cNvGrpSpPr/>
          <p:nvPr/>
        </p:nvGrpSpPr>
        <p:grpSpPr>
          <a:xfrm>
            <a:off x="36850" y="-264200"/>
            <a:ext cx="9103051" cy="5356294"/>
            <a:chOff x="36850" y="-264200"/>
            <a:chExt cx="9103051" cy="5356294"/>
          </a:xfrm>
        </p:grpSpPr>
        <p:sp>
          <p:nvSpPr>
            <p:cNvPr id="768" name="Google Shape;768;p49"/>
            <p:cNvSpPr/>
            <p:nvPr/>
          </p:nvSpPr>
          <p:spPr>
            <a:xfrm rot="1677186">
              <a:off x="7476179" y="71932"/>
              <a:ext cx="1600645" cy="666336"/>
            </a:xfrm>
            <a:prstGeom prst="triangle">
              <a:avLst>
                <a:gd fmla="val 7729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49"/>
            <p:cNvSpPr/>
            <p:nvPr/>
          </p:nvSpPr>
          <p:spPr>
            <a:xfrm flipH="1">
              <a:off x="324000" y="324000"/>
              <a:ext cx="8502600" cy="4495500"/>
            </a:xfrm>
            <a:prstGeom prst="flowChartPunchedCard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70" name="Google Shape;770;p49"/>
            <p:cNvGrpSpPr/>
            <p:nvPr/>
          </p:nvGrpSpPr>
          <p:grpSpPr>
            <a:xfrm rot="10800000">
              <a:off x="5282495" y="238092"/>
              <a:ext cx="352548" cy="171819"/>
              <a:chOff x="4791775" y="1877500"/>
              <a:chExt cx="66725" cy="36975"/>
            </a:xfrm>
          </p:grpSpPr>
          <p:sp>
            <p:nvSpPr>
              <p:cNvPr id="771" name="Google Shape;771;p49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2" name="Google Shape;772;p49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3" name="Google Shape;773;p49"/>
            <p:cNvGrpSpPr/>
            <p:nvPr/>
          </p:nvGrpSpPr>
          <p:grpSpPr>
            <a:xfrm>
              <a:off x="3211820" y="4733592"/>
              <a:ext cx="352548" cy="171819"/>
              <a:chOff x="4791775" y="1877500"/>
              <a:chExt cx="66725" cy="36975"/>
            </a:xfrm>
          </p:grpSpPr>
          <p:sp>
            <p:nvSpPr>
              <p:cNvPr id="774" name="Google Shape;774;p49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" name="Google Shape;775;p49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76" name="Google Shape;776;p49"/>
            <p:cNvSpPr/>
            <p:nvPr/>
          </p:nvSpPr>
          <p:spPr>
            <a:xfrm rot="-1143789">
              <a:off x="102379" y="156251"/>
              <a:ext cx="574952" cy="497686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49"/>
            <p:cNvSpPr/>
            <p:nvPr/>
          </p:nvSpPr>
          <p:spPr>
            <a:xfrm rot="1242158">
              <a:off x="8495554" y="4508897"/>
              <a:ext cx="574911" cy="497651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8" name="Google Shape;778;p49"/>
          <p:cNvSpPr txBox="1"/>
          <p:nvPr/>
        </p:nvSpPr>
        <p:spPr>
          <a:xfrm>
            <a:off x="494025" y="684000"/>
            <a:ext cx="5066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Boosters Carried Maximum Payload</a:t>
            </a:r>
            <a:endParaRPr b="1" sz="2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79" name="Google Shape;779;p49"/>
          <p:cNvSpPr txBox="1"/>
          <p:nvPr/>
        </p:nvSpPr>
        <p:spPr>
          <a:xfrm>
            <a:off x="494026" y="1184400"/>
            <a:ext cx="7418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List the names of the booster which have carried the maximum payload mass.</a:t>
            </a:r>
            <a:endParaRPr sz="13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80" name="Google Shape;780;p49"/>
          <p:cNvSpPr txBox="1"/>
          <p:nvPr/>
        </p:nvSpPr>
        <p:spPr>
          <a:xfrm>
            <a:off x="494026" y="1769928"/>
            <a:ext cx="2985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SQL Query:</a:t>
            </a:r>
            <a:endParaRPr b="1" sz="11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81" name="Google Shape;781;p49"/>
          <p:cNvSpPr txBox="1"/>
          <p:nvPr/>
        </p:nvSpPr>
        <p:spPr>
          <a:xfrm>
            <a:off x="494026" y="2701950"/>
            <a:ext cx="2985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SQL Query Result:</a:t>
            </a:r>
            <a:endParaRPr b="1" sz="11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82" name="Google Shape;782;p49"/>
          <p:cNvSpPr txBox="1"/>
          <p:nvPr/>
        </p:nvSpPr>
        <p:spPr>
          <a:xfrm>
            <a:off x="2710269" y="2701950"/>
            <a:ext cx="52482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SQL Explanation:</a:t>
            </a:r>
            <a:endParaRPr b="1" sz="1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Using </a:t>
            </a: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DISTINCT(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BOOSTER_VERSION</a:t>
            </a: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)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returns only unique booster version values from the 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BOOSTER_VERSION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column of the 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SPACEXTABLE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table 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WHERE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PAYLOAD_MASS__KG_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equals the maximum payload mass calculated by </a:t>
            </a: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MAX(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PAYLOAD_MASS__KG_</a:t>
            </a: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)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The query returns the booster versions that carried the maximum payload mass in the </a:t>
            </a: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SpaceX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launch dataset.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783" name="Google Shape;783;p49" title="Slide 37 - SQL Que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600" y="2170800"/>
            <a:ext cx="8107199" cy="363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784" name="Google Shape;784;p49" title="Slide 37 - SQL Query Resul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600" y="3078000"/>
            <a:ext cx="645775" cy="157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9" name="Google Shape;789;p50"/>
          <p:cNvGrpSpPr/>
          <p:nvPr/>
        </p:nvGrpSpPr>
        <p:grpSpPr>
          <a:xfrm>
            <a:off x="36850" y="-264200"/>
            <a:ext cx="9103051" cy="5356294"/>
            <a:chOff x="36850" y="-264200"/>
            <a:chExt cx="9103051" cy="5356294"/>
          </a:xfrm>
        </p:grpSpPr>
        <p:sp>
          <p:nvSpPr>
            <p:cNvPr id="790" name="Google Shape;790;p50"/>
            <p:cNvSpPr/>
            <p:nvPr/>
          </p:nvSpPr>
          <p:spPr>
            <a:xfrm rot="1677186">
              <a:off x="7476179" y="71932"/>
              <a:ext cx="1600645" cy="666336"/>
            </a:xfrm>
            <a:prstGeom prst="triangle">
              <a:avLst>
                <a:gd fmla="val 7729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50"/>
            <p:cNvSpPr/>
            <p:nvPr/>
          </p:nvSpPr>
          <p:spPr>
            <a:xfrm flipH="1">
              <a:off x="324000" y="324000"/>
              <a:ext cx="8502600" cy="4495500"/>
            </a:xfrm>
            <a:prstGeom prst="flowChartPunchedCard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92" name="Google Shape;792;p50"/>
            <p:cNvGrpSpPr/>
            <p:nvPr/>
          </p:nvGrpSpPr>
          <p:grpSpPr>
            <a:xfrm rot="10800000">
              <a:off x="5282495" y="238092"/>
              <a:ext cx="352548" cy="171819"/>
              <a:chOff x="4791775" y="1877500"/>
              <a:chExt cx="66725" cy="36975"/>
            </a:xfrm>
          </p:grpSpPr>
          <p:sp>
            <p:nvSpPr>
              <p:cNvPr id="793" name="Google Shape;793;p50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50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95" name="Google Shape;795;p50"/>
            <p:cNvGrpSpPr/>
            <p:nvPr/>
          </p:nvGrpSpPr>
          <p:grpSpPr>
            <a:xfrm>
              <a:off x="3211820" y="4733592"/>
              <a:ext cx="352548" cy="171819"/>
              <a:chOff x="4791775" y="1877500"/>
              <a:chExt cx="66725" cy="36975"/>
            </a:xfrm>
          </p:grpSpPr>
          <p:sp>
            <p:nvSpPr>
              <p:cNvPr id="796" name="Google Shape;796;p50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50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98" name="Google Shape;798;p50"/>
            <p:cNvSpPr/>
            <p:nvPr/>
          </p:nvSpPr>
          <p:spPr>
            <a:xfrm rot="-1143789">
              <a:off x="102379" y="156251"/>
              <a:ext cx="574952" cy="497686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50"/>
            <p:cNvSpPr/>
            <p:nvPr/>
          </p:nvSpPr>
          <p:spPr>
            <a:xfrm rot="1242158">
              <a:off x="8495554" y="4508897"/>
              <a:ext cx="574911" cy="497651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0" name="Google Shape;800;p50"/>
          <p:cNvSpPr txBox="1"/>
          <p:nvPr/>
        </p:nvSpPr>
        <p:spPr>
          <a:xfrm>
            <a:off x="494025" y="684000"/>
            <a:ext cx="5066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2015 Launch Records</a:t>
            </a:r>
            <a:endParaRPr b="1" sz="2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01" name="Google Shape;801;p50"/>
          <p:cNvSpPr txBox="1"/>
          <p:nvPr/>
        </p:nvSpPr>
        <p:spPr>
          <a:xfrm>
            <a:off x="494026" y="1184400"/>
            <a:ext cx="74184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List the failed landing_outcomes in drone ship, their booster versions, </a:t>
            </a:r>
            <a:r>
              <a:rPr lang="en-GB" sz="13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and</a:t>
            </a:r>
            <a:br>
              <a:rPr lang="en-GB" sz="13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-GB" sz="13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launch site names in 2015.</a:t>
            </a:r>
            <a:endParaRPr sz="13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02" name="Google Shape;802;p50"/>
          <p:cNvSpPr txBox="1"/>
          <p:nvPr/>
        </p:nvSpPr>
        <p:spPr>
          <a:xfrm>
            <a:off x="494026" y="1769928"/>
            <a:ext cx="2985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SQL Query:</a:t>
            </a:r>
            <a:endParaRPr b="1" sz="11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03" name="Google Shape;803;p50"/>
          <p:cNvSpPr txBox="1"/>
          <p:nvPr/>
        </p:nvSpPr>
        <p:spPr>
          <a:xfrm>
            <a:off x="494026" y="2701950"/>
            <a:ext cx="2985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SQL Query Result:</a:t>
            </a:r>
            <a:endParaRPr b="1" sz="11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04" name="Google Shape;804;p50"/>
          <p:cNvSpPr txBox="1"/>
          <p:nvPr/>
        </p:nvSpPr>
        <p:spPr>
          <a:xfrm>
            <a:off x="2710269" y="2701950"/>
            <a:ext cx="52482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SQL Explanation:</a:t>
            </a:r>
            <a:endParaRPr b="1" sz="1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Using </a:t>
            </a: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substr(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Date</a:t>
            </a: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, 6, 2)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returns the month from the 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Date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column of the SPACEXTABLE table for records 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WHERE </a:t>
            </a: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substr(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Date</a:t>
            </a: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, 0, 5)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is '2015' and 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Landing_Outcome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is 'Failure (drone ship)'.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The query returns the month, landing outcome, booster version, and launch site for failed drone ship landing records in 2015 from the </a:t>
            </a: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SpaceX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launch dataset.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805" name="Google Shape;805;p50" title="Slide 38 - SQL Que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600" y="2170800"/>
            <a:ext cx="8107199" cy="363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806" name="Google Shape;806;p50" title="Slide 38 - SQL Query Resul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600" y="3078000"/>
            <a:ext cx="1422000" cy="33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1" name="Google Shape;811;p51"/>
          <p:cNvGrpSpPr/>
          <p:nvPr/>
        </p:nvGrpSpPr>
        <p:grpSpPr>
          <a:xfrm>
            <a:off x="36850" y="-264200"/>
            <a:ext cx="9103051" cy="5356294"/>
            <a:chOff x="36850" y="-264200"/>
            <a:chExt cx="9103051" cy="5356294"/>
          </a:xfrm>
        </p:grpSpPr>
        <p:sp>
          <p:nvSpPr>
            <p:cNvPr id="812" name="Google Shape;812;p51"/>
            <p:cNvSpPr/>
            <p:nvPr/>
          </p:nvSpPr>
          <p:spPr>
            <a:xfrm rot="1677186">
              <a:off x="7476179" y="71932"/>
              <a:ext cx="1600645" cy="666336"/>
            </a:xfrm>
            <a:prstGeom prst="triangle">
              <a:avLst>
                <a:gd fmla="val 7729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51"/>
            <p:cNvSpPr/>
            <p:nvPr/>
          </p:nvSpPr>
          <p:spPr>
            <a:xfrm flipH="1">
              <a:off x="324000" y="324000"/>
              <a:ext cx="8502600" cy="4495500"/>
            </a:xfrm>
            <a:prstGeom prst="flowChartPunchedCard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14" name="Google Shape;814;p51"/>
            <p:cNvGrpSpPr/>
            <p:nvPr/>
          </p:nvGrpSpPr>
          <p:grpSpPr>
            <a:xfrm rot="10800000">
              <a:off x="5282495" y="238092"/>
              <a:ext cx="352548" cy="171819"/>
              <a:chOff x="4791775" y="1877500"/>
              <a:chExt cx="66725" cy="36975"/>
            </a:xfrm>
          </p:grpSpPr>
          <p:sp>
            <p:nvSpPr>
              <p:cNvPr id="815" name="Google Shape;815;p51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" name="Google Shape;816;p51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17" name="Google Shape;817;p51"/>
            <p:cNvGrpSpPr/>
            <p:nvPr/>
          </p:nvGrpSpPr>
          <p:grpSpPr>
            <a:xfrm>
              <a:off x="3211820" y="4733592"/>
              <a:ext cx="352548" cy="171819"/>
              <a:chOff x="4791775" y="1877500"/>
              <a:chExt cx="66725" cy="36975"/>
            </a:xfrm>
          </p:grpSpPr>
          <p:sp>
            <p:nvSpPr>
              <p:cNvPr id="818" name="Google Shape;818;p51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9" name="Google Shape;819;p51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20" name="Google Shape;820;p51"/>
            <p:cNvSpPr/>
            <p:nvPr/>
          </p:nvSpPr>
          <p:spPr>
            <a:xfrm rot="-1143789">
              <a:off x="102379" y="156251"/>
              <a:ext cx="574952" cy="497686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51"/>
            <p:cNvSpPr/>
            <p:nvPr/>
          </p:nvSpPr>
          <p:spPr>
            <a:xfrm rot="1242158">
              <a:off x="8495554" y="4508897"/>
              <a:ext cx="574911" cy="497651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2" name="Google Shape;822;p51"/>
          <p:cNvSpPr txBox="1"/>
          <p:nvPr/>
        </p:nvSpPr>
        <p:spPr>
          <a:xfrm>
            <a:off x="494025" y="530319"/>
            <a:ext cx="7047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Rank Landing Outcomes Between 2010-06-04</a:t>
            </a:r>
            <a:endParaRPr b="1" sz="2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and 2017-03-20</a:t>
            </a:r>
            <a:endParaRPr b="1" sz="2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23" name="Google Shape;823;p51"/>
          <p:cNvSpPr txBox="1"/>
          <p:nvPr/>
        </p:nvSpPr>
        <p:spPr>
          <a:xfrm>
            <a:off x="494026" y="1361919"/>
            <a:ext cx="74184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Rank the count of landing outcomes (such as Failure (drone ship) or Success (ground pad)) between the date 2010-06-04 and 2017-03-20, in descending order.</a:t>
            </a:r>
            <a:endParaRPr sz="13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24" name="Google Shape;824;p51"/>
          <p:cNvSpPr txBox="1"/>
          <p:nvPr/>
        </p:nvSpPr>
        <p:spPr>
          <a:xfrm>
            <a:off x="494026" y="1945945"/>
            <a:ext cx="2985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SQL Query:</a:t>
            </a:r>
            <a:endParaRPr b="1" sz="11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25" name="Google Shape;825;p51"/>
          <p:cNvSpPr txBox="1"/>
          <p:nvPr/>
        </p:nvSpPr>
        <p:spPr>
          <a:xfrm>
            <a:off x="2710269" y="3042625"/>
            <a:ext cx="52482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SQL Explanation:</a:t>
            </a:r>
            <a:endParaRPr b="1" sz="1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Using </a:t>
            </a: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COUNT(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Landing_Outcome</a:t>
            </a: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)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calculates the total number of records for each 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Landing_Outcome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category from the 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SPACEXTABLE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table between '2010-06-04' and '2017-03-20', and </a:t>
            </a:r>
            <a:r>
              <a:rPr b="1"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ORDER BY TOTAL_NUMBER DESC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ranks the counts in descending order.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The query returns the landing outcome counts ranked from highest to lowest for the specified date range in the </a:t>
            </a: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SpaceX </a:t>
            </a:r>
            <a:r>
              <a:rPr lang="en-GB" sz="11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launch dataset.</a:t>
            </a:r>
            <a:endParaRPr sz="11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26" name="Google Shape;826;p51"/>
          <p:cNvSpPr txBox="1"/>
          <p:nvPr/>
        </p:nvSpPr>
        <p:spPr>
          <a:xfrm>
            <a:off x="494026" y="3043175"/>
            <a:ext cx="2985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SQL Query Result:</a:t>
            </a:r>
            <a:endParaRPr b="1" sz="11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827" name="Google Shape;827;p51" title="Slide 39 - SQL Que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600" y="2347200"/>
            <a:ext cx="8107199" cy="648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8" name="Google Shape;828;p51" title="Slide 39 - SQL Query Resul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600" y="3422125"/>
            <a:ext cx="1321868" cy="12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3" name="Google Shape;833;p52"/>
          <p:cNvGrpSpPr/>
          <p:nvPr/>
        </p:nvGrpSpPr>
        <p:grpSpPr>
          <a:xfrm>
            <a:off x="36850" y="-264200"/>
            <a:ext cx="9103051" cy="5356294"/>
            <a:chOff x="36850" y="-264200"/>
            <a:chExt cx="9103051" cy="5356294"/>
          </a:xfrm>
        </p:grpSpPr>
        <p:sp>
          <p:nvSpPr>
            <p:cNvPr id="834" name="Google Shape;834;p52"/>
            <p:cNvSpPr/>
            <p:nvPr/>
          </p:nvSpPr>
          <p:spPr>
            <a:xfrm rot="1677186">
              <a:off x="7476179" y="71932"/>
              <a:ext cx="1600645" cy="666336"/>
            </a:xfrm>
            <a:prstGeom prst="triangle">
              <a:avLst>
                <a:gd fmla="val 7729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52"/>
            <p:cNvSpPr/>
            <p:nvPr/>
          </p:nvSpPr>
          <p:spPr>
            <a:xfrm flipH="1">
              <a:off x="324000" y="324000"/>
              <a:ext cx="8502600" cy="4495500"/>
            </a:xfrm>
            <a:prstGeom prst="flowChartPunchedCard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36" name="Google Shape;836;p52"/>
            <p:cNvGrpSpPr/>
            <p:nvPr/>
          </p:nvGrpSpPr>
          <p:grpSpPr>
            <a:xfrm rot="10800000">
              <a:off x="5282495" y="238092"/>
              <a:ext cx="352548" cy="171819"/>
              <a:chOff x="4791775" y="1877500"/>
              <a:chExt cx="66725" cy="36975"/>
            </a:xfrm>
          </p:grpSpPr>
          <p:sp>
            <p:nvSpPr>
              <p:cNvPr id="837" name="Google Shape;837;p52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8" name="Google Shape;838;p52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39" name="Google Shape;839;p52"/>
            <p:cNvGrpSpPr/>
            <p:nvPr/>
          </p:nvGrpSpPr>
          <p:grpSpPr>
            <a:xfrm>
              <a:off x="3211820" y="4733592"/>
              <a:ext cx="352548" cy="171819"/>
              <a:chOff x="4791775" y="1877500"/>
              <a:chExt cx="66725" cy="36975"/>
            </a:xfrm>
          </p:grpSpPr>
          <p:sp>
            <p:nvSpPr>
              <p:cNvPr id="840" name="Google Shape;840;p52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1" name="Google Shape;841;p52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42" name="Google Shape;842;p52"/>
            <p:cNvSpPr/>
            <p:nvPr/>
          </p:nvSpPr>
          <p:spPr>
            <a:xfrm rot="-1143789">
              <a:off x="102379" y="156251"/>
              <a:ext cx="574952" cy="497686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52"/>
            <p:cNvSpPr/>
            <p:nvPr/>
          </p:nvSpPr>
          <p:spPr>
            <a:xfrm rot="1242158">
              <a:off x="8495554" y="4508897"/>
              <a:ext cx="574911" cy="497651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4" name="Google Shape;844;p52"/>
          <p:cNvSpPr txBox="1"/>
          <p:nvPr/>
        </p:nvSpPr>
        <p:spPr>
          <a:xfrm>
            <a:off x="966055" y="1783226"/>
            <a:ext cx="3283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Results</a:t>
            </a:r>
            <a:endParaRPr b="1" sz="28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45" name="Google Shape;845;p52"/>
          <p:cNvSpPr txBox="1"/>
          <p:nvPr/>
        </p:nvSpPr>
        <p:spPr>
          <a:xfrm>
            <a:off x="867246" y="2490568"/>
            <a:ext cx="710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0</a:t>
            </a:r>
            <a:r>
              <a:rPr b="1" lang="en-GB" sz="24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2</a:t>
            </a:r>
            <a:endParaRPr b="1" sz="24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46" name="Google Shape;846;p52"/>
          <p:cNvSpPr txBox="1"/>
          <p:nvPr/>
        </p:nvSpPr>
        <p:spPr>
          <a:xfrm>
            <a:off x="1478425" y="2566372"/>
            <a:ext cx="3283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Launch Sites Proximity Analysis - Folium Interactive Map</a:t>
            </a:r>
            <a:endParaRPr b="1" sz="16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1" name="Google Shape;851;p53"/>
          <p:cNvGrpSpPr/>
          <p:nvPr/>
        </p:nvGrpSpPr>
        <p:grpSpPr>
          <a:xfrm>
            <a:off x="36850" y="-264200"/>
            <a:ext cx="9103051" cy="5356294"/>
            <a:chOff x="36850" y="-264200"/>
            <a:chExt cx="9103051" cy="5356294"/>
          </a:xfrm>
        </p:grpSpPr>
        <p:sp>
          <p:nvSpPr>
            <p:cNvPr id="852" name="Google Shape;852;p53"/>
            <p:cNvSpPr/>
            <p:nvPr/>
          </p:nvSpPr>
          <p:spPr>
            <a:xfrm rot="1677186">
              <a:off x="7476179" y="71932"/>
              <a:ext cx="1600645" cy="666336"/>
            </a:xfrm>
            <a:prstGeom prst="triangle">
              <a:avLst>
                <a:gd fmla="val 7729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53"/>
            <p:cNvSpPr/>
            <p:nvPr/>
          </p:nvSpPr>
          <p:spPr>
            <a:xfrm flipH="1">
              <a:off x="324000" y="324000"/>
              <a:ext cx="8502600" cy="4495500"/>
            </a:xfrm>
            <a:prstGeom prst="flowChartPunchedCard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54" name="Google Shape;854;p53"/>
            <p:cNvGrpSpPr/>
            <p:nvPr/>
          </p:nvGrpSpPr>
          <p:grpSpPr>
            <a:xfrm rot="10800000">
              <a:off x="5282495" y="238092"/>
              <a:ext cx="352548" cy="171819"/>
              <a:chOff x="4791775" y="1877500"/>
              <a:chExt cx="66725" cy="36975"/>
            </a:xfrm>
          </p:grpSpPr>
          <p:sp>
            <p:nvSpPr>
              <p:cNvPr id="855" name="Google Shape;855;p53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6" name="Google Shape;856;p53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57" name="Google Shape;857;p53"/>
            <p:cNvGrpSpPr/>
            <p:nvPr/>
          </p:nvGrpSpPr>
          <p:grpSpPr>
            <a:xfrm>
              <a:off x="3211820" y="4733592"/>
              <a:ext cx="352548" cy="171819"/>
              <a:chOff x="4791775" y="1877500"/>
              <a:chExt cx="66725" cy="36975"/>
            </a:xfrm>
          </p:grpSpPr>
          <p:sp>
            <p:nvSpPr>
              <p:cNvPr id="858" name="Google Shape;858;p53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9" name="Google Shape;859;p53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60" name="Google Shape;860;p53"/>
            <p:cNvSpPr/>
            <p:nvPr/>
          </p:nvSpPr>
          <p:spPr>
            <a:xfrm rot="-1143789">
              <a:off x="102379" y="156251"/>
              <a:ext cx="574952" cy="497686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53"/>
            <p:cNvSpPr/>
            <p:nvPr/>
          </p:nvSpPr>
          <p:spPr>
            <a:xfrm rot="1242158">
              <a:off x="8495554" y="4508897"/>
              <a:ext cx="574911" cy="497651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2" name="Google Shape;862;p53"/>
          <p:cNvSpPr txBox="1"/>
          <p:nvPr/>
        </p:nvSpPr>
        <p:spPr>
          <a:xfrm>
            <a:off x="494025" y="1068225"/>
            <a:ext cx="3535200" cy="38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999999"/>
                </a:solidFill>
                <a:latin typeface="Raleway"/>
                <a:ea typeface="Raleway"/>
                <a:cs typeface="Raleway"/>
                <a:sym typeface="Raleway"/>
              </a:rPr>
              <a:t>The </a:t>
            </a:r>
            <a:r>
              <a:rPr lang="en-GB" sz="1200">
                <a:solidFill>
                  <a:srgbClr val="999999"/>
                </a:solidFill>
                <a:latin typeface="Raleway"/>
                <a:ea typeface="Raleway"/>
                <a:cs typeface="Raleway"/>
                <a:sym typeface="Raleway"/>
              </a:rPr>
              <a:t>map </a:t>
            </a:r>
            <a:r>
              <a:rPr lang="en-GB" sz="1200">
                <a:solidFill>
                  <a:srgbClr val="999999"/>
                </a:solidFill>
                <a:latin typeface="Raleway"/>
                <a:ea typeface="Raleway"/>
                <a:cs typeface="Raleway"/>
                <a:sym typeface="Raleway"/>
              </a:rPr>
              <a:t>screenshots shows </a:t>
            </a:r>
            <a:r>
              <a:rPr lang="en-GB" sz="1200">
                <a:solidFill>
                  <a:srgbClr val="999999"/>
                </a:solidFill>
                <a:latin typeface="Raleway"/>
                <a:ea typeface="Raleway"/>
                <a:cs typeface="Raleway"/>
                <a:sym typeface="Raleway"/>
              </a:rPr>
              <a:t>the locations of four </a:t>
            </a:r>
            <a:r>
              <a:rPr b="1" lang="en-GB" sz="12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SpaceX </a:t>
            </a:r>
            <a:r>
              <a:rPr lang="en-GB" sz="1200">
                <a:solidFill>
                  <a:srgbClr val="999999"/>
                </a:solidFill>
                <a:latin typeface="Raleway"/>
                <a:ea typeface="Raleway"/>
                <a:cs typeface="Raleway"/>
                <a:sym typeface="Raleway"/>
              </a:rPr>
              <a:t>launch sites across the United States:</a:t>
            </a:r>
            <a:endParaRPr sz="1200">
              <a:solidFill>
                <a:srgbClr val="999999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AB40"/>
              </a:buClr>
              <a:buSzPts val="1300"/>
              <a:buFont typeface="Raleway"/>
              <a:buAutoNum type="arabicPeriod"/>
            </a:pP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CCAFS LC-40, CCAFS SLC-40, and KSC LC-39A are located close to each other on Florida’s east coast, near Cape Canaveral and Kennedy Space Center. While </a:t>
            </a: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VAFB SLC-4E</a:t>
            </a: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is located separately on the west coast in California</a:t>
            </a: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b="1" sz="13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1300"/>
              <a:buFont typeface="Raleway"/>
              <a:buAutoNum type="arabicPeriod"/>
            </a:pP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All launch sites shown are near coastal areas, which is important</a:t>
            </a: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for rocket launch safety and access to open ocean flight paths</a:t>
            </a:r>
            <a:endParaRPr b="1" sz="13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63" name="Google Shape;863;p53"/>
          <p:cNvSpPr txBox="1"/>
          <p:nvPr/>
        </p:nvSpPr>
        <p:spPr>
          <a:xfrm>
            <a:off x="494025" y="574228"/>
            <a:ext cx="5006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All Launch Sites On The Map</a:t>
            </a:r>
            <a:endParaRPr b="1" sz="2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864" name="Google Shape;864;p53" title="Slide 41 - Marked Launch Sit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4265" y="3227890"/>
            <a:ext cx="2151670" cy="1284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5" name="Google Shape;865;p53" title="Slide 41 - Marked Launch Site 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9237" y="3228629"/>
            <a:ext cx="2151667" cy="1282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6" name="Google Shape;866;p53" title="Slide 41 - Marked Launch Site 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94264" y="1506784"/>
            <a:ext cx="2151667" cy="1284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7" name="Google Shape;867;p53" title="Slide 41 - Marked Launch Site 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09247" y="1508577"/>
            <a:ext cx="2151666" cy="1284142"/>
          </a:xfrm>
          <a:prstGeom prst="rect">
            <a:avLst/>
          </a:prstGeom>
          <a:noFill/>
          <a:ln>
            <a:noFill/>
          </a:ln>
        </p:spPr>
      </p:pic>
      <p:sp>
        <p:nvSpPr>
          <p:cNvPr id="868" name="Google Shape;868;p53"/>
          <p:cNvSpPr txBox="1"/>
          <p:nvPr/>
        </p:nvSpPr>
        <p:spPr>
          <a:xfrm>
            <a:off x="4194354" y="1097916"/>
            <a:ext cx="21519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00" lIns="85200" spcFirstLastPara="1" rIns="85200" wrap="square" tIns="85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VAFB SLC-4E </a:t>
            </a:r>
            <a:br>
              <a:rPr lang="en-GB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-GB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(34.632834, -120.610745) </a:t>
            </a:r>
            <a:endParaRPr sz="9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69" name="Google Shape;869;p53"/>
          <p:cNvSpPr txBox="1"/>
          <p:nvPr/>
        </p:nvSpPr>
        <p:spPr>
          <a:xfrm>
            <a:off x="6409186" y="1097916"/>
            <a:ext cx="21519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00" lIns="85200" spcFirstLastPara="1" rIns="85200" wrap="square" tIns="85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KSC LC-39A</a:t>
            </a:r>
            <a:br>
              <a:rPr lang="en-GB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-GB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(</a:t>
            </a:r>
            <a:r>
              <a:rPr lang="en-GB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28.573255</a:t>
            </a:r>
            <a:r>
              <a:rPr lang="en-GB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, </a:t>
            </a:r>
            <a:r>
              <a:rPr lang="en-GB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-80.646895</a:t>
            </a:r>
            <a:r>
              <a:rPr lang="en-GB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) </a:t>
            </a:r>
            <a:endParaRPr sz="9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70" name="Google Shape;870;p53"/>
          <p:cNvSpPr txBox="1"/>
          <p:nvPr/>
        </p:nvSpPr>
        <p:spPr>
          <a:xfrm>
            <a:off x="4194159" y="2794343"/>
            <a:ext cx="21519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00" lIns="85200" spcFirstLastPara="1" rIns="85200" wrap="square" tIns="85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CCAFS SLC-40</a:t>
            </a:r>
            <a:r>
              <a:rPr lang="en-GB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br>
              <a:rPr lang="en-GB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-GB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(</a:t>
            </a:r>
            <a:r>
              <a:rPr lang="en-GB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28.563197</a:t>
            </a:r>
            <a:r>
              <a:rPr lang="en-GB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, -</a:t>
            </a:r>
            <a:r>
              <a:rPr lang="en-GB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80.576820</a:t>
            </a:r>
            <a:r>
              <a:rPr lang="en-GB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) </a:t>
            </a:r>
            <a:endParaRPr sz="9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71" name="Google Shape;871;p53"/>
          <p:cNvSpPr txBox="1"/>
          <p:nvPr/>
        </p:nvSpPr>
        <p:spPr>
          <a:xfrm>
            <a:off x="6409194" y="2794689"/>
            <a:ext cx="21519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00" lIns="85200" spcFirstLastPara="1" rIns="85200" wrap="square" tIns="85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CCAFS LC-40 </a:t>
            </a:r>
            <a:br>
              <a:rPr lang="en-GB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-GB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(</a:t>
            </a:r>
            <a:r>
              <a:rPr lang="en-GB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28.562302</a:t>
            </a:r>
            <a:r>
              <a:rPr lang="en-GB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, </a:t>
            </a:r>
            <a:r>
              <a:rPr lang="en-GB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-80.577356</a:t>
            </a:r>
            <a:r>
              <a:rPr lang="en-GB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) </a:t>
            </a:r>
            <a:endParaRPr sz="9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6" name="Google Shape;876;p54"/>
          <p:cNvGrpSpPr/>
          <p:nvPr/>
        </p:nvGrpSpPr>
        <p:grpSpPr>
          <a:xfrm>
            <a:off x="36850" y="-264200"/>
            <a:ext cx="9103051" cy="5356294"/>
            <a:chOff x="36850" y="-264200"/>
            <a:chExt cx="9103051" cy="5356294"/>
          </a:xfrm>
        </p:grpSpPr>
        <p:sp>
          <p:nvSpPr>
            <p:cNvPr id="877" name="Google Shape;877;p54"/>
            <p:cNvSpPr/>
            <p:nvPr/>
          </p:nvSpPr>
          <p:spPr>
            <a:xfrm rot="1677186">
              <a:off x="7476179" y="71932"/>
              <a:ext cx="1600645" cy="666336"/>
            </a:xfrm>
            <a:prstGeom prst="triangle">
              <a:avLst>
                <a:gd fmla="val 7729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54"/>
            <p:cNvSpPr/>
            <p:nvPr/>
          </p:nvSpPr>
          <p:spPr>
            <a:xfrm flipH="1">
              <a:off x="324000" y="324000"/>
              <a:ext cx="8502600" cy="4495500"/>
            </a:xfrm>
            <a:prstGeom prst="flowChartPunchedCard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79" name="Google Shape;879;p54"/>
            <p:cNvGrpSpPr/>
            <p:nvPr/>
          </p:nvGrpSpPr>
          <p:grpSpPr>
            <a:xfrm rot="10800000">
              <a:off x="5282495" y="238092"/>
              <a:ext cx="352548" cy="171819"/>
              <a:chOff x="4791775" y="1877500"/>
              <a:chExt cx="66725" cy="36975"/>
            </a:xfrm>
          </p:grpSpPr>
          <p:sp>
            <p:nvSpPr>
              <p:cNvPr id="880" name="Google Shape;880;p54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1" name="Google Shape;881;p54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82" name="Google Shape;882;p54"/>
            <p:cNvGrpSpPr/>
            <p:nvPr/>
          </p:nvGrpSpPr>
          <p:grpSpPr>
            <a:xfrm>
              <a:off x="3211820" y="4733592"/>
              <a:ext cx="352548" cy="171819"/>
              <a:chOff x="4791775" y="1877500"/>
              <a:chExt cx="66725" cy="36975"/>
            </a:xfrm>
          </p:grpSpPr>
          <p:sp>
            <p:nvSpPr>
              <p:cNvPr id="883" name="Google Shape;883;p54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4" name="Google Shape;884;p54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85" name="Google Shape;885;p54"/>
            <p:cNvSpPr/>
            <p:nvPr/>
          </p:nvSpPr>
          <p:spPr>
            <a:xfrm rot="-1143789">
              <a:off x="102379" y="156251"/>
              <a:ext cx="574952" cy="497686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54"/>
            <p:cNvSpPr/>
            <p:nvPr/>
          </p:nvSpPr>
          <p:spPr>
            <a:xfrm rot="1242158">
              <a:off x="8495554" y="4508897"/>
              <a:ext cx="574911" cy="497651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7" name="Google Shape;887;p54"/>
          <p:cNvSpPr txBox="1"/>
          <p:nvPr/>
        </p:nvSpPr>
        <p:spPr>
          <a:xfrm>
            <a:off x="494025" y="1309723"/>
            <a:ext cx="3535200" cy="35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999999"/>
                </a:solidFill>
                <a:latin typeface="Raleway"/>
                <a:ea typeface="Raleway"/>
                <a:cs typeface="Raleway"/>
                <a:sym typeface="Raleway"/>
              </a:rPr>
              <a:t>The map screenshots </a:t>
            </a:r>
            <a:r>
              <a:rPr lang="en-GB" sz="1200">
                <a:solidFill>
                  <a:srgbClr val="999999"/>
                </a:solidFill>
                <a:latin typeface="Raleway"/>
                <a:ea typeface="Raleway"/>
                <a:cs typeface="Raleway"/>
                <a:sym typeface="Raleway"/>
              </a:rPr>
              <a:t>shows successful and failed launches at four </a:t>
            </a:r>
            <a:r>
              <a:rPr b="1" lang="en-GB" sz="12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SpaceX </a:t>
            </a:r>
            <a:r>
              <a:rPr lang="en-GB" sz="1200">
                <a:solidFill>
                  <a:srgbClr val="999999"/>
                </a:solidFill>
                <a:latin typeface="Raleway"/>
                <a:ea typeface="Raleway"/>
                <a:cs typeface="Raleway"/>
                <a:sym typeface="Raleway"/>
              </a:rPr>
              <a:t>launch sites using color-coded markers, green and red:</a:t>
            </a:r>
            <a:endParaRPr sz="1200">
              <a:solidFill>
                <a:srgbClr val="999999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AB40"/>
              </a:buClr>
              <a:buSzPts val="1300"/>
              <a:buFont typeface="Raleway"/>
              <a:buAutoNum type="arabicPeriod"/>
            </a:pP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KSC LC-39A has more green markers, suggesting a relatively higher launch success rate</a:t>
            </a: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b="1" sz="13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1300"/>
              <a:buFont typeface="Raleway"/>
              <a:buAutoNum type="arabicPeriod"/>
            </a:pP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CCAFS LC-40 and CCAFS SLC-40 have more red markers, suggesting lower launch success rates</a:t>
            </a: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b="1" sz="13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1300"/>
              <a:buFont typeface="Raleway"/>
              <a:buAutoNum type="arabicPeriod"/>
            </a:pP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VAFB SLC-4E has both green and red markers, showing mixed launch outcomes</a:t>
            </a:r>
            <a:endParaRPr b="1" sz="13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88" name="Google Shape;888;p54"/>
          <p:cNvSpPr txBox="1"/>
          <p:nvPr/>
        </p:nvSpPr>
        <p:spPr>
          <a:xfrm>
            <a:off x="494025" y="552271"/>
            <a:ext cx="5433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All Success / Failed Launches For</a:t>
            </a:r>
            <a:endParaRPr b="1" sz="2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Each Site On The Map</a:t>
            </a:r>
            <a:endParaRPr b="1" sz="2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889" name="Google Shape;889;p54" title="Slide 42 - Marked Launch Site 1 Landing Outcome.png"/>
          <p:cNvPicPr preferRelativeResize="0"/>
          <p:nvPr/>
        </p:nvPicPr>
        <p:blipFill rotWithShape="1">
          <a:blip r:embed="rId3">
            <a:alphaModFix/>
          </a:blip>
          <a:srcRect b="0" l="80" r="80" t="0"/>
          <a:stretch/>
        </p:blipFill>
        <p:spPr>
          <a:xfrm>
            <a:off x="4194564" y="1735209"/>
            <a:ext cx="2082384" cy="124266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0" name="Google Shape;890;p54" title="Slide 42 - Marked Launch Site 2 Landing Outcome.png"/>
          <p:cNvPicPr preferRelativeResize="0"/>
          <p:nvPr/>
        </p:nvPicPr>
        <p:blipFill rotWithShape="1">
          <a:blip r:embed="rId4">
            <a:alphaModFix/>
          </a:blip>
          <a:srcRect b="0" l="120" r="110" t="0"/>
          <a:stretch/>
        </p:blipFill>
        <p:spPr>
          <a:xfrm>
            <a:off x="6338225" y="1736945"/>
            <a:ext cx="2082383" cy="1242793"/>
          </a:xfrm>
          <a:prstGeom prst="rect">
            <a:avLst/>
          </a:prstGeom>
          <a:noFill/>
          <a:ln>
            <a:noFill/>
          </a:ln>
        </p:spPr>
      </p:pic>
      <p:sp>
        <p:nvSpPr>
          <p:cNvPr id="891" name="Google Shape;891;p54"/>
          <p:cNvSpPr txBox="1"/>
          <p:nvPr/>
        </p:nvSpPr>
        <p:spPr>
          <a:xfrm>
            <a:off x="4194651" y="1339506"/>
            <a:ext cx="2082609" cy="433187"/>
          </a:xfrm>
          <a:prstGeom prst="rect">
            <a:avLst/>
          </a:prstGeom>
          <a:noFill/>
          <a:ln>
            <a:noFill/>
          </a:ln>
        </p:spPr>
        <p:txBody>
          <a:bodyPr anchorCtr="0" anchor="t" bIns="82450" lIns="82450" spcFirstLastPara="1" rIns="82450" wrap="square" tIns="82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VAFB SLC-4E </a:t>
            </a:r>
            <a:br>
              <a:rPr lang="en-GB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-GB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(34.632834, -120.610745) </a:t>
            </a:r>
            <a:endParaRPr sz="9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92" name="Google Shape;892;p54"/>
          <p:cNvSpPr txBox="1"/>
          <p:nvPr/>
        </p:nvSpPr>
        <p:spPr>
          <a:xfrm>
            <a:off x="6338166" y="1339506"/>
            <a:ext cx="2082609" cy="433187"/>
          </a:xfrm>
          <a:prstGeom prst="rect">
            <a:avLst/>
          </a:prstGeom>
          <a:noFill/>
          <a:ln>
            <a:noFill/>
          </a:ln>
        </p:spPr>
        <p:txBody>
          <a:bodyPr anchorCtr="0" anchor="t" bIns="82450" lIns="82450" spcFirstLastPara="1" rIns="82450" wrap="square" tIns="82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KSC LC-39A</a:t>
            </a:r>
            <a:br>
              <a:rPr lang="en-GB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-GB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(28.573255, -80.646895) </a:t>
            </a:r>
            <a:endParaRPr sz="9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93" name="Google Shape;893;p54"/>
          <p:cNvSpPr txBox="1"/>
          <p:nvPr/>
        </p:nvSpPr>
        <p:spPr>
          <a:xfrm>
            <a:off x="4194463" y="2981308"/>
            <a:ext cx="2082609" cy="433187"/>
          </a:xfrm>
          <a:prstGeom prst="rect">
            <a:avLst/>
          </a:prstGeom>
          <a:noFill/>
          <a:ln>
            <a:noFill/>
          </a:ln>
        </p:spPr>
        <p:txBody>
          <a:bodyPr anchorCtr="0" anchor="t" bIns="82450" lIns="82450" spcFirstLastPara="1" rIns="82450" wrap="square" tIns="82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CCAFS SLC-40 </a:t>
            </a:r>
            <a:br>
              <a:rPr lang="en-GB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-GB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(28.563197, -80.576820) </a:t>
            </a:r>
            <a:endParaRPr sz="9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94" name="Google Shape;894;p54"/>
          <p:cNvSpPr txBox="1"/>
          <p:nvPr/>
        </p:nvSpPr>
        <p:spPr>
          <a:xfrm>
            <a:off x="6338174" y="2981644"/>
            <a:ext cx="2082609" cy="433187"/>
          </a:xfrm>
          <a:prstGeom prst="rect">
            <a:avLst/>
          </a:prstGeom>
          <a:noFill/>
          <a:ln>
            <a:noFill/>
          </a:ln>
        </p:spPr>
        <p:txBody>
          <a:bodyPr anchorCtr="0" anchor="t" bIns="82450" lIns="82450" spcFirstLastPara="1" rIns="82450" wrap="square" tIns="82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CCAFS LC-40 </a:t>
            </a:r>
            <a:br>
              <a:rPr lang="en-GB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-GB" sz="9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(28.562302, -80.577356) </a:t>
            </a:r>
            <a:endParaRPr sz="9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895" name="Google Shape;895;p54" title="Slide 42 - Marked Launch Site 3 Landing Outcome.png"/>
          <p:cNvPicPr preferRelativeResize="0"/>
          <p:nvPr/>
        </p:nvPicPr>
        <p:blipFill rotWithShape="1">
          <a:blip r:embed="rId5">
            <a:alphaModFix/>
          </a:blip>
          <a:srcRect b="209" l="0" r="0" t="209"/>
          <a:stretch/>
        </p:blipFill>
        <p:spPr>
          <a:xfrm>
            <a:off x="4194565" y="3400896"/>
            <a:ext cx="2082386" cy="124266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54" title="Slide 42 - Marked Launch Site 4 Landing Outcome.png"/>
          <p:cNvPicPr preferRelativeResize="0"/>
          <p:nvPr/>
        </p:nvPicPr>
        <p:blipFill rotWithShape="1">
          <a:blip r:embed="rId6">
            <a:alphaModFix/>
          </a:blip>
          <a:srcRect b="0" l="357" r="348" t="0"/>
          <a:stretch/>
        </p:blipFill>
        <p:spPr>
          <a:xfrm>
            <a:off x="6338215" y="3401611"/>
            <a:ext cx="2082385" cy="1241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1" name="Google Shape;901;p55"/>
          <p:cNvGrpSpPr/>
          <p:nvPr/>
        </p:nvGrpSpPr>
        <p:grpSpPr>
          <a:xfrm>
            <a:off x="36850" y="-264200"/>
            <a:ext cx="9103051" cy="5356294"/>
            <a:chOff x="36850" y="-264200"/>
            <a:chExt cx="9103051" cy="5356294"/>
          </a:xfrm>
        </p:grpSpPr>
        <p:sp>
          <p:nvSpPr>
            <p:cNvPr id="902" name="Google Shape;902;p55"/>
            <p:cNvSpPr/>
            <p:nvPr/>
          </p:nvSpPr>
          <p:spPr>
            <a:xfrm rot="1677186">
              <a:off x="7476179" y="71932"/>
              <a:ext cx="1600645" cy="666336"/>
            </a:xfrm>
            <a:prstGeom prst="triangle">
              <a:avLst>
                <a:gd fmla="val 7729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55"/>
            <p:cNvSpPr/>
            <p:nvPr/>
          </p:nvSpPr>
          <p:spPr>
            <a:xfrm flipH="1">
              <a:off x="324000" y="324000"/>
              <a:ext cx="8502600" cy="4495500"/>
            </a:xfrm>
            <a:prstGeom prst="flowChartPunchedCard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04" name="Google Shape;904;p55"/>
            <p:cNvGrpSpPr/>
            <p:nvPr/>
          </p:nvGrpSpPr>
          <p:grpSpPr>
            <a:xfrm rot="10800000">
              <a:off x="5282495" y="238092"/>
              <a:ext cx="352548" cy="171819"/>
              <a:chOff x="4791775" y="1877500"/>
              <a:chExt cx="66725" cy="36975"/>
            </a:xfrm>
          </p:grpSpPr>
          <p:sp>
            <p:nvSpPr>
              <p:cNvPr id="905" name="Google Shape;905;p55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6" name="Google Shape;906;p55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07" name="Google Shape;907;p55"/>
            <p:cNvGrpSpPr/>
            <p:nvPr/>
          </p:nvGrpSpPr>
          <p:grpSpPr>
            <a:xfrm>
              <a:off x="3211820" y="4733592"/>
              <a:ext cx="352548" cy="171819"/>
              <a:chOff x="4791775" y="1877500"/>
              <a:chExt cx="66725" cy="36975"/>
            </a:xfrm>
          </p:grpSpPr>
          <p:sp>
            <p:nvSpPr>
              <p:cNvPr id="908" name="Google Shape;908;p55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9" name="Google Shape;909;p55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10" name="Google Shape;910;p55"/>
            <p:cNvSpPr/>
            <p:nvPr/>
          </p:nvSpPr>
          <p:spPr>
            <a:xfrm rot="-1143789">
              <a:off x="102379" y="156251"/>
              <a:ext cx="574952" cy="497686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55"/>
            <p:cNvSpPr/>
            <p:nvPr/>
          </p:nvSpPr>
          <p:spPr>
            <a:xfrm rot="1242158">
              <a:off x="8495554" y="4508897"/>
              <a:ext cx="574911" cy="497651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2" name="Google Shape;912;p55"/>
          <p:cNvSpPr txBox="1"/>
          <p:nvPr/>
        </p:nvSpPr>
        <p:spPr>
          <a:xfrm>
            <a:off x="494025" y="1309725"/>
            <a:ext cx="3535200" cy="34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999999"/>
                </a:solidFill>
                <a:latin typeface="Raleway"/>
                <a:ea typeface="Raleway"/>
                <a:cs typeface="Raleway"/>
                <a:sym typeface="Raleway"/>
              </a:rPr>
              <a:t>The map screenshots show the approximate </a:t>
            </a:r>
            <a:r>
              <a:rPr lang="en-GB" sz="1200">
                <a:solidFill>
                  <a:srgbClr val="999999"/>
                </a:solidFill>
                <a:latin typeface="Raleway"/>
                <a:ea typeface="Raleway"/>
                <a:cs typeface="Raleway"/>
                <a:sym typeface="Raleway"/>
              </a:rPr>
              <a:t>distance from the </a:t>
            </a:r>
            <a:r>
              <a:rPr b="1" lang="en-GB" sz="12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CCAFS SLC-40</a:t>
            </a:r>
            <a:r>
              <a:rPr lang="en-GB" sz="1200">
                <a:solidFill>
                  <a:srgbClr val="999999"/>
                </a:solidFill>
                <a:latin typeface="Raleway"/>
                <a:ea typeface="Raleway"/>
                <a:cs typeface="Raleway"/>
                <a:sym typeface="Raleway"/>
              </a:rPr>
              <a:t> launch site to nearby points of interest </a:t>
            </a:r>
            <a:r>
              <a:rPr lang="en-GB" sz="1200">
                <a:solidFill>
                  <a:srgbClr val="999999"/>
                </a:solidFill>
                <a:latin typeface="Raleway"/>
                <a:ea typeface="Raleway"/>
                <a:cs typeface="Raleway"/>
                <a:sym typeface="Raleway"/>
              </a:rPr>
              <a:t>using </a:t>
            </a:r>
            <a:r>
              <a:rPr lang="en-GB" sz="1200">
                <a:solidFill>
                  <a:srgbClr val="999999"/>
                </a:solidFill>
                <a:latin typeface="Raleway"/>
                <a:ea typeface="Raleway"/>
                <a:cs typeface="Raleway"/>
                <a:sym typeface="Raleway"/>
              </a:rPr>
              <a:t>blue distance lines, including the coastline, highway, railway, and </a:t>
            </a:r>
            <a:r>
              <a:rPr lang="en-GB" sz="1200">
                <a:solidFill>
                  <a:srgbClr val="999999"/>
                </a:solidFill>
                <a:latin typeface="Raleway"/>
                <a:ea typeface="Raleway"/>
                <a:cs typeface="Raleway"/>
                <a:sym typeface="Raleway"/>
              </a:rPr>
              <a:t>city locations</a:t>
            </a:r>
            <a:r>
              <a:rPr lang="en-GB" sz="1200">
                <a:solidFill>
                  <a:srgbClr val="999999"/>
                </a:solidFill>
                <a:latin typeface="Raleway"/>
                <a:ea typeface="Raleway"/>
                <a:cs typeface="Raleway"/>
                <a:sym typeface="Raleway"/>
              </a:rPr>
              <a:t>:</a:t>
            </a:r>
            <a:endParaRPr sz="1200">
              <a:solidFill>
                <a:srgbClr val="999999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AB40"/>
              </a:buClr>
              <a:buSzPts val="1300"/>
              <a:buFont typeface="Raleway"/>
              <a:buAutoNum type="arabicPeriod"/>
            </a:pP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The coastline is 0.87 km due east</a:t>
            </a: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o</a:t>
            </a: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f the launch site</a:t>
            </a: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b="1" sz="13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1300"/>
              <a:buFont typeface="Raleway"/>
              <a:buAutoNum type="arabicPeriod"/>
            </a:pP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The nearest highway is 0.59 km away</a:t>
            </a: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b="1" sz="13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1300"/>
              <a:buFont typeface="Raleway"/>
              <a:buAutoNum type="arabicPeriod"/>
            </a:pP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The nearest railway is 1.29 km away</a:t>
            </a: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b="1" sz="13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1300"/>
              <a:buFont typeface="Raleway"/>
              <a:buAutoNum type="arabicPeriod"/>
            </a:pP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The nearest city is 51.74 km away</a:t>
            </a:r>
            <a:endParaRPr b="1" sz="13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13" name="Google Shape;913;p55"/>
          <p:cNvSpPr txBox="1"/>
          <p:nvPr/>
        </p:nvSpPr>
        <p:spPr>
          <a:xfrm>
            <a:off x="494025" y="552271"/>
            <a:ext cx="5433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Proximity Of A Selected Launch Site</a:t>
            </a:r>
            <a:endParaRPr b="1" sz="2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To Other Points of Interest</a:t>
            </a:r>
            <a:endParaRPr b="1" sz="2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914" name="Google Shape;914;p55"/>
          <p:cNvGrpSpPr/>
          <p:nvPr/>
        </p:nvGrpSpPr>
        <p:grpSpPr>
          <a:xfrm>
            <a:off x="4644065" y="1449729"/>
            <a:ext cx="2280798" cy="3153603"/>
            <a:chOff x="5734813" y="1231959"/>
            <a:chExt cx="2599200" cy="3597129"/>
          </a:xfrm>
        </p:grpSpPr>
        <p:pic>
          <p:nvPicPr>
            <p:cNvPr id="915" name="Google Shape;915;p55" title="Slide 43 - Selected Launch Site 3 Marked Distance To Coastline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735500" y="1231959"/>
              <a:ext cx="2597824" cy="11771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6" name="Google Shape;916;p55" title="Slide 43 - Selected Launch Site 3 Marked Distance To Highway and Railway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735500" y="2456140"/>
              <a:ext cx="2597824" cy="11671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7" name="Google Shape;917;p55" title="Slide 43 - Selected Launch Site 3 Marked Distance To City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734813" y="3670278"/>
              <a:ext cx="2599200" cy="115881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2" name="Google Shape;922;p56"/>
          <p:cNvGrpSpPr/>
          <p:nvPr/>
        </p:nvGrpSpPr>
        <p:grpSpPr>
          <a:xfrm>
            <a:off x="36850" y="-264200"/>
            <a:ext cx="9103051" cy="5356294"/>
            <a:chOff x="36850" y="-264200"/>
            <a:chExt cx="9103051" cy="5356294"/>
          </a:xfrm>
        </p:grpSpPr>
        <p:sp>
          <p:nvSpPr>
            <p:cNvPr id="923" name="Google Shape;923;p56"/>
            <p:cNvSpPr/>
            <p:nvPr/>
          </p:nvSpPr>
          <p:spPr>
            <a:xfrm rot="1677186">
              <a:off x="7476179" y="71932"/>
              <a:ext cx="1600645" cy="666336"/>
            </a:xfrm>
            <a:prstGeom prst="triangle">
              <a:avLst>
                <a:gd fmla="val 7729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56"/>
            <p:cNvSpPr/>
            <p:nvPr/>
          </p:nvSpPr>
          <p:spPr>
            <a:xfrm flipH="1">
              <a:off x="324000" y="324000"/>
              <a:ext cx="8502600" cy="4495500"/>
            </a:xfrm>
            <a:prstGeom prst="flowChartPunchedCard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25" name="Google Shape;925;p56"/>
            <p:cNvGrpSpPr/>
            <p:nvPr/>
          </p:nvGrpSpPr>
          <p:grpSpPr>
            <a:xfrm rot="10800000">
              <a:off x="5282495" y="238092"/>
              <a:ext cx="352548" cy="171819"/>
              <a:chOff x="4791775" y="1877500"/>
              <a:chExt cx="66725" cy="36975"/>
            </a:xfrm>
          </p:grpSpPr>
          <p:sp>
            <p:nvSpPr>
              <p:cNvPr id="926" name="Google Shape;926;p56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7" name="Google Shape;927;p56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28" name="Google Shape;928;p56"/>
            <p:cNvGrpSpPr/>
            <p:nvPr/>
          </p:nvGrpSpPr>
          <p:grpSpPr>
            <a:xfrm>
              <a:off x="3211820" y="4733592"/>
              <a:ext cx="352548" cy="171819"/>
              <a:chOff x="4791775" y="1877500"/>
              <a:chExt cx="66725" cy="36975"/>
            </a:xfrm>
          </p:grpSpPr>
          <p:sp>
            <p:nvSpPr>
              <p:cNvPr id="929" name="Google Shape;929;p56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0" name="Google Shape;930;p56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31" name="Google Shape;931;p56"/>
            <p:cNvSpPr/>
            <p:nvPr/>
          </p:nvSpPr>
          <p:spPr>
            <a:xfrm rot="-1143789">
              <a:off x="102379" y="156251"/>
              <a:ext cx="574952" cy="497686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56"/>
            <p:cNvSpPr/>
            <p:nvPr/>
          </p:nvSpPr>
          <p:spPr>
            <a:xfrm rot="1242158">
              <a:off x="8495554" y="4508897"/>
              <a:ext cx="574911" cy="497651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3" name="Google Shape;933;p56"/>
          <p:cNvSpPr txBox="1"/>
          <p:nvPr/>
        </p:nvSpPr>
        <p:spPr>
          <a:xfrm>
            <a:off x="966055" y="1783226"/>
            <a:ext cx="3283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Results</a:t>
            </a:r>
            <a:endParaRPr b="1" sz="28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34" name="Google Shape;934;p56"/>
          <p:cNvSpPr txBox="1"/>
          <p:nvPr/>
        </p:nvSpPr>
        <p:spPr>
          <a:xfrm>
            <a:off x="867246" y="2490568"/>
            <a:ext cx="710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0</a:t>
            </a:r>
            <a:r>
              <a:rPr b="1" lang="en-GB" sz="24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2</a:t>
            </a:r>
            <a:endParaRPr b="1" sz="24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35" name="Google Shape;935;p56"/>
          <p:cNvSpPr txBox="1"/>
          <p:nvPr/>
        </p:nvSpPr>
        <p:spPr>
          <a:xfrm>
            <a:off x="1478425" y="2566375"/>
            <a:ext cx="3691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interactive</a:t>
            </a:r>
            <a:r>
              <a:rPr b="1" lang="en-GB" sz="16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Dashboard - Plotly Dash</a:t>
            </a:r>
            <a:endParaRPr b="1" sz="16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0" name="Google Shape;940;p57"/>
          <p:cNvGrpSpPr/>
          <p:nvPr/>
        </p:nvGrpSpPr>
        <p:grpSpPr>
          <a:xfrm>
            <a:off x="36850" y="-264200"/>
            <a:ext cx="9103051" cy="5356294"/>
            <a:chOff x="36850" y="-264200"/>
            <a:chExt cx="9103051" cy="5356294"/>
          </a:xfrm>
        </p:grpSpPr>
        <p:sp>
          <p:nvSpPr>
            <p:cNvPr id="941" name="Google Shape;941;p57"/>
            <p:cNvSpPr/>
            <p:nvPr/>
          </p:nvSpPr>
          <p:spPr>
            <a:xfrm rot="1677186">
              <a:off x="7476179" y="71932"/>
              <a:ext cx="1600645" cy="666336"/>
            </a:xfrm>
            <a:prstGeom prst="triangle">
              <a:avLst>
                <a:gd fmla="val 7729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57"/>
            <p:cNvSpPr/>
            <p:nvPr/>
          </p:nvSpPr>
          <p:spPr>
            <a:xfrm flipH="1">
              <a:off x="324000" y="324000"/>
              <a:ext cx="8502600" cy="4495500"/>
            </a:xfrm>
            <a:prstGeom prst="flowChartPunchedCard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43" name="Google Shape;943;p57"/>
            <p:cNvGrpSpPr/>
            <p:nvPr/>
          </p:nvGrpSpPr>
          <p:grpSpPr>
            <a:xfrm rot="10800000">
              <a:off x="5282495" y="238092"/>
              <a:ext cx="352548" cy="171819"/>
              <a:chOff x="4791775" y="1877500"/>
              <a:chExt cx="66725" cy="36975"/>
            </a:xfrm>
          </p:grpSpPr>
          <p:sp>
            <p:nvSpPr>
              <p:cNvPr id="944" name="Google Shape;944;p57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5" name="Google Shape;945;p57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46" name="Google Shape;946;p57"/>
            <p:cNvGrpSpPr/>
            <p:nvPr/>
          </p:nvGrpSpPr>
          <p:grpSpPr>
            <a:xfrm>
              <a:off x="3211820" y="4733592"/>
              <a:ext cx="352548" cy="171819"/>
              <a:chOff x="4791775" y="1877500"/>
              <a:chExt cx="66725" cy="36975"/>
            </a:xfrm>
          </p:grpSpPr>
          <p:sp>
            <p:nvSpPr>
              <p:cNvPr id="947" name="Google Shape;947;p57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8" name="Google Shape;948;p57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49" name="Google Shape;949;p57"/>
            <p:cNvSpPr/>
            <p:nvPr/>
          </p:nvSpPr>
          <p:spPr>
            <a:xfrm rot="-1143789">
              <a:off x="102379" y="156251"/>
              <a:ext cx="574952" cy="497686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57"/>
            <p:cNvSpPr/>
            <p:nvPr/>
          </p:nvSpPr>
          <p:spPr>
            <a:xfrm rot="1242158">
              <a:off x="8495554" y="4508897"/>
              <a:ext cx="574911" cy="497651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1" name="Google Shape;951;p57"/>
          <p:cNvSpPr txBox="1"/>
          <p:nvPr/>
        </p:nvSpPr>
        <p:spPr>
          <a:xfrm>
            <a:off x="494025" y="925522"/>
            <a:ext cx="3535200" cy="38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999999"/>
                </a:solidFill>
                <a:latin typeface="Raleway"/>
                <a:ea typeface="Raleway"/>
                <a:cs typeface="Raleway"/>
                <a:sym typeface="Raleway"/>
              </a:rPr>
              <a:t>The pie chart of Total Success Launches For All Sites shows that:</a:t>
            </a:r>
            <a:endParaRPr sz="1200">
              <a:solidFill>
                <a:srgbClr val="999999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AB40"/>
              </a:buClr>
              <a:buSzPts val="1300"/>
              <a:buFont typeface="Raleway"/>
              <a:buAutoNum type="arabicPeriod"/>
            </a:pP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KSC LC-39A had the most successful launches, accounting</a:t>
            </a: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for 41.7% of the total</a:t>
            </a: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b="1" sz="13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1300"/>
              <a:buFont typeface="Raleway"/>
              <a:buAutoNum type="arabicPeriod"/>
            </a:pP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CCAFS LC-40 had the second most successful launches, accounting for 29.2% of the total</a:t>
            </a: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b="1" sz="13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1300"/>
              <a:buFont typeface="Raleway"/>
              <a:buAutoNum type="arabicPeriod"/>
            </a:pP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VAFB SLC-4E accounted for 16.7%</a:t>
            </a: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of the total successful launches</a:t>
            </a: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b="1" sz="13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1300"/>
              <a:buFont typeface="Raleway"/>
              <a:buAutoNum type="arabicPeriod"/>
            </a:pP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CCAFS SLC-40 had the fewest successful launches, accounting</a:t>
            </a: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for 12.5% of the total</a:t>
            </a:r>
            <a:endParaRPr b="1" sz="13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52" name="Google Shape;952;p57"/>
          <p:cNvSpPr txBox="1"/>
          <p:nvPr/>
        </p:nvSpPr>
        <p:spPr>
          <a:xfrm>
            <a:off x="494025" y="519342"/>
            <a:ext cx="5006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Total Success Launches For All Sites</a:t>
            </a:r>
            <a:endParaRPr b="1" sz="2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53" name="Google Shape;953;p57"/>
          <p:cNvSpPr txBox="1"/>
          <p:nvPr/>
        </p:nvSpPr>
        <p:spPr>
          <a:xfrm>
            <a:off x="4344750" y="3428994"/>
            <a:ext cx="3834900" cy="10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Overall, KSC LC-39A was the most successful launch site, accounting for 41.7% of total successful launches, while CCAFS SLC-40 had the lowest share among the four sites shown.</a:t>
            </a:r>
            <a:endParaRPr/>
          </a:p>
        </p:txBody>
      </p:sp>
      <p:pic>
        <p:nvPicPr>
          <p:cNvPr id="954" name="Google Shape;954;p57" title="Slide 45 - Total Success Launches For All Sites Pie Cha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6000" y="1163449"/>
            <a:ext cx="3992400" cy="2155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9" name="Google Shape;959;p58"/>
          <p:cNvGrpSpPr/>
          <p:nvPr/>
        </p:nvGrpSpPr>
        <p:grpSpPr>
          <a:xfrm>
            <a:off x="36850" y="-264200"/>
            <a:ext cx="9103051" cy="5356294"/>
            <a:chOff x="36850" y="-264200"/>
            <a:chExt cx="9103051" cy="5356294"/>
          </a:xfrm>
        </p:grpSpPr>
        <p:sp>
          <p:nvSpPr>
            <p:cNvPr id="960" name="Google Shape;960;p58"/>
            <p:cNvSpPr/>
            <p:nvPr/>
          </p:nvSpPr>
          <p:spPr>
            <a:xfrm rot="1677186">
              <a:off x="7476179" y="71932"/>
              <a:ext cx="1600645" cy="666336"/>
            </a:xfrm>
            <a:prstGeom prst="triangle">
              <a:avLst>
                <a:gd fmla="val 7729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58"/>
            <p:cNvSpPr/>
            <p:nvPr/>
          </p:nvSpPr>
          <p:spPr>
            <a:xfrm flipH="1">
              <a:off x="324000" y="324000"/>
              <a:ext cx="8502600" cy="4495500"/>
            </a:xfrm>
            <a:prstGeom prst="flowChartPunchedCard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62" name="Google Shape;962;p58"/>
            <p:cNvGrpSpPr/>
            <p:nvPr/>
          </p:nvGrpSpPr>
          <p:grpSpPr>
            <a:xfrm rot="10800000">
              <a:off x="5282495" y="238092"/>
              <a:ext cx="352548" cy="171819"/>
              <a:chOff x="4791775" y="1877500"/>
              <a:chExt cx="66725" cy="36975"/>
            </a:xfrm>
          </p:grpSpPr>
          <p:sp>
            <p:nvSpPr>
              <p:cNvPr id="963" name="Google Shape;963;p58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4" name="Google Shape;964;p58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65" name="Google Shape;965;p58"/>
            <p:cNvGrpSpPr/>
            <p:nvPr/>
          </p:nvGrpSpPr>
          <p:grpSpPr>
            <a:xfrm>
              <a:off x="3211820" y="4733592"/>
              <a:ext cx="352548" cy="171819"/>
              <a:chOff x="4791775" y="1877500"/>
              <a:chExt cx="66725" cy="36975"/>
            </a:xfrm>
          </p:grpSpPr>
          <p:sp>
            <p:nvSpPr>
              <p:cNvPr id="966" name="Google Shape;966;p58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7" name="Google Shape;967;p58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68" name="Google Shape;968;p58"/>
            <p:cNvSpPr/>
            <p:nvPr/>
          </p:nvSpPr>
          <p:spPr>
            <a:xfrm rot="-1143789">
              <a:off x="102379" y="156251"/>
              <a:ext cx="574952" cy="497686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58"/>
            <p:cNvSpPr/>
            <p:nvPr/>
          </p:nvSpPr>
          <p:spPr>
            <a:xfrm rot="1242158">
              <a:off x="8495554" y="4508897"/>
              <a:ext cx="574911" cy="497651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0" name="Google Shape;970;p58"/>
          <p:cNvSpPr txBox="1"/>
          <p:nvPr/>
        </p:nvSpPr>
        <p:spPr>
          <a:xfrm>
            <a:off x="494025" y="1309723"/>
            <a:ext cx="3535200" cy="34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999999"/>
                </a:solidFill>
                <a:latin typeface="Raleway"/>
                <a:ea typeface="Raleway"/>
                <a:cs typeface="Raleway"/>
                <a:sym typeface="Raleway"/>
              </a:rPr>
              <a:t>The pie chart of Launch Site With Highest Launch Success Ratio shows that:</a:t>
            </a:r>
            <a:endParaRPr sz="1200">
              <a:solidFill>
                <a:srgbClr val="999999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KSC LC-39A had the highest launch success ratio among all launch sites,</a:t>
            </a: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with 76.9% successful launches and</a:t>
            </a: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23.1% unsuccessful launches.</a:t>
            </a:r>
            <a:endParaRPr b="1" sz="13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71" name="Google Shape;971;p58"/>
          <p:cNvSpPr txBox="1"/>
          <p:nvPr/>
        </p:nvSpPr>
        <p:spPr>
          <a:xfrm>
            <a:off x="494025" y="552271"/>
            <a:ext cx="5433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Launch Site With Highest Launch Success Ratio</a:t>
            </a:r>
            <a:endParaRPr b="1" sz="2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972" name="Google Shape;972;p58" title="Slide 46 - Launch Site 2 With Highest Launch Success Ratio.png"/>
          <p:cNvPicPr preferRelativeResize="0"/>
          <p:nvPr/>
        </p:nvPicPr>
        <p:blipFill rotWithShape="1">
          <a:blip r:embed="rId3">
            <a:alphaModFix/>
          </a:blip>
          <a:srcRect b="10" l="0" r="0" t="20"/>
          <a:stretch/>
        </p:blipFill>
        <p:spPr>
          <a:xfrm>
            <a:off x="4265114" y="1427482"/>
            <a:ext cx="3992400" cy="2155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7" name="Google Shape;977;p59"/>
          <p:cNvGrpSpPr/>
          <p:nvPr/>
        </p:nvGrpSpPr>
        <p:grpSpPr>
          <a:xfrm>
            <a:off x="36850" y="-264200"/>
            <a:ext cx="9103051" cy="5356294"/>
            <a:chOff x="36850" y="-264200"/>
            <a:chExt cx="9103051" cy="5356294"/>
          </a:xfrm>
        </p:grpSpPr>
        <p:sp>
          <p:nvSpPr>
            <p:cNvPr id="978" name="Google Shape;978;p59"/>
            <p:cNvSpPr/>
            <p:nvPr/>
          </p:nvSpPr>
          <p:spPr>
            <a:xfrm rot="1677186">
              <a:off x="7476179" y="71932"/>
              <a:ext cx="1600645" cy="666336"/>
            </a:xfrm>
            <a:prstGeom prst="triangle">
              <a:avLst>
                <a:gd fmla="val 7729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59"/>
            <p:cNvSpPr/>
            <p:nvPr/>
          </p:nvSpPr>
          <p:spPr>
            <a:xfrm flipH="1">
              <a:off x="324000" y="324000"/>
              <a:ext cx="8502600" cy="4495500"/>
            </a:xfrm>
            <a:prstGeom prst="flowChartPunchedCard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80" name="Google Shape;980;p59"/>
            <p:cNvGrpSpPr/>
            <p:nvPr/>
          </p:nvGrpSpPr>
          <p:grpSpPr>
            <a:xfrm rot="10800000">
              <a:off x="5282495" y="238092"/>
              <a:ext cx="352548" cy="171819"/>
              <a:chOff x="4791775" y="1877500"/>
              <a:chExt cx="66725" cy="36975"/>
            </a:xfrm>
          </p:grpSpPr>
          <p:sp>
            <p:nvSpPr>
              <p:cNvPr id="981" name="Google Shape;981;p59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2" name="Google Shape;982;p59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83" name="Google Shape;983;p59"/>
            <p:cNvGrpSpPr/>
            <p:nvPr/>
          </p:nvGrpSpPr>
          <p:grpSpPr>
            <a:xfrm>
              <a:off x="3211820" y="4733592"/>
              <a:ext cx="352548" cy="171819"/>
              <a:chOff x="4791775" y="1877500"/>
              <a:chExt cx="66725" cy="36975"/>
            </a:xfrm>
          </p:grpSpPr>
          <p:sp>
            <p:nvSpPr>
              <p:cNvPr id="984" name="Google Shape;984;p59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5" name="Google Shape;985;p59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86" name="Google Shape;986;p59"/>
            <p:cNvSpPr/>
            <p:nvPr/>
          </p:nvSpPr>
          <p:spPr>
            <a:xfrm rot="-1143789">
              <a:off x="102379" y="156251"/>
              <a:ext cx="574952" cy="497686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59"/>
            <p:cNvSpPr/>
            <p:nvPr/>
          </p:nvSpPr>
          <p:spPr>
            <a:xfrm rot="1242158">
              <a:off x="8495554" y="4508897"/>
              <a:ext cx="574911" cy="497651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8" name="Google Shape;988;p59"/>
          <p:cNvSpPr txBox="1"/>
          <p:nvPr/>
        </p:nvSpPr>
        <p:spPr>
          <a:xfrm>
            <a:off x="494025" y="1309725"/>
            <a:ext cx="3699300" cy="3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999999"/>
                </a:solidFill>
                <a:latin typeface="Raleway"/>
                <a:ea typeface="Raleway"/>
                <a:cs typeface="Raleway"/>
                <a:sym typeface="Raleway"/>
              </a:rPr>
              <a:t>The scatter plots of Payload Mass vs Launch Outcome For All Sites, with different payload ranges selected using the range</a:t>
            </a:r>
            <a:r>
              <a:rPr lang="en-GB" sz="1200">
                <a:solidFill>
                  <a:srgbClr val="999999"/>
                </a:solidFill>
                <a:latin typeface="Raleway"/>
                <a:ea typeface="Raleway"/>
                <a:cs typeface="Raleway"/>
                <a:sym typeface="Raleway"/>
              </a:rPr>
              <a:t> slider</a:t>
            </a:r>
            <a:r>
              <a:rPr lang="en-GB" sz="1200">
                <a:solidFill>
                  <a:srgbClr val="999999"/>
                </a:solidFill>
                <a:latin typeface="Raleway"/>
                <a:ea typeface="Raleway"/>
                <a:cs typeface="Raleway"/>
                <a:sym typeface="Raleway"/>
              </a:rPr>
              <a:t>, show that:</a:t>
            </a:r>
            <a:endParaRPr b="1" sz="13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AB40"/>
              </a:buClr>
              <a:buSzPts val="1300"/>
              <a:buFont typeface="Raleway"/>
              <a:buAutoNum type="arabicPeriod"/>
            </a:pP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The full payload range plot shows a visible gap around 4000 kg, so the data can be divided into two ranges: 0–4000 kg for low payloads and 4000–10000 kg for massive payloads</a:t>
            </a: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b="1" sz="13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1300"/>
              <a:buFont typeface="Raleway"/>
              <a:buAutoNum type="arabicPeriod"/>
            </a:pP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The 0–4000 kg range shows a higher launch success pattern than the massive payload range. In particular, the 3000–4000 kg range appears to have the largest success rate</a:t>
            </a:r>
            <a:endParaRPr b="1" sz="13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89" name="Google Shape;989;p59"/>
          <p:cNvSpPr txBox="1"/>
          <p:nvPr/>
        </p:nvSpPr>
        <p:spPr>
          <a:xfrm>
            <a:off x="494025" y="552271"/>
            <a:ext cx="5433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Payload Mass vs Launch Outcome For</a:t>
            </a:r>
            <a:endParaRPr b="1" sz="2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All Sites</a:t>
            </a:r>
            <a:endParaRPr b="1" sz="2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990" name="Google Shape;990;p59" title="Slide 47 - 0kg - 9600kg Payload Mass vs Launch Outcome For All Sites Scatter 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8637" y="1676244"/>
            <a:ext cx="4332076" cy="182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1" name="Google Shape;991;p59" title="Slide 47 - 0kg - 4000kg Payload Mass vs Launch Outcome For All Sites Scatter Plo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8637" y="3566144"/>
            <a:ext cx="2143575" cy="905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992" name="Google Shape;992;p59" title="Slide 47 - 4000kg -10000kg Payload Mass vs Launch Outcome For All Sites Scatter Plo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27137" y="3566144"/>
            <a:ext cx="2143575" cy="9050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93" name="Google Shape;993;p59"/>
          <p:cNvCxnSpPr/>
          <p:nvPr/>
        </p:nvCxnSpPr>
        <p:spPr>
          <a:xfrm>
            <a:off x="6460775" y="2294243"/>
            <a:ext cx="0" cy="1075800"/>
          </a:xfrm>
          <a:prstGeom prst="straightConnector1">
            <a:avLst/>
          </a:prstGeom>
          <a:noFill/>
          <a:ln cap="flat" cmpd="sng" w="9525">
            <a:solidFill>
              <a:srgbClr val="FFAB40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994" name="Google Shape;994;p59"/>
          <p:cNvSpPr txBox="1"/>
          <p:nvPr/>
        </p:nvSpPr>
        <p:spPr>
          <a:xfrm>
            <a:off x="5146001" y="2703532"/>
            <a:ext cx="130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FFAB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Low payloads</a:t>
            </a:r>
            <a:endParaRPr sz="800">
              <a:solidFill>
                <a:srgbClr val="FFAB4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995" name="Google Shape;995;p59"/>
          <p:cNvSpPr txBox="1"/>
          <p:nvPr/>
        </p:nvSpPr>
        <p:spPr>
          <a:xfrm>
            <a:off x="6659565" y="2703600"/>
            <a:ext cx="130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FFAB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Massive payloads</a:t>
            </a:r>
            <a:endParaRPr sz="800">
              <a:solidFill>
                <a:srgbClr val="FFAB4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0" name="Google Shape;1000;p60"/>
          <p:cNvGrpSpPr/>
          <p:nvPr/>
        </p:nvGrpSpPr>
        <p:grpSpPr>
          <a:xfrm>
            <a:off x="36850" y="-264200"/>
            <a:ext cx="9103051" cy="5356294"/>
            <a:chOff x="36850" y="-264200"/>
            <a:chExt cx="9103051" cy="5356294"/>
          </a:xfrm>
        </p:grpSpPr>
        <p:sp>
          <p:nvSpPr>
            <p:cNvPr id="1001" name="Google Shape;1001;p60"/>
            <p:cNvSpPr/>
            <p:nvPr/>
          </p:nvSpPr>
          <p:spPr>
            <a:xfrm rot="1677186">
              <a:off x="7476179" y="71932"/>
              <a:ext cx="1600645" cy="666336"/>
            </a:xfrm>
            <a:prstGeom prst="triangle">
              <a:avLst>
                <a:gd fmla="val 7729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60"/>
            <p:cNvSpPr/>
            <p:nvPr/>
          </p:nvSpPr>
          <p:spPr>
            <a:xfrm flipH="1">
              <a:off x="324000" y="324000"/>
              <a:ext cx="8502600" cy="4495500"/>
            </a:xfrm>
            <a:prstGeom prst="flowChartPunchedCard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03" name="Google Shape;1003;p60"/>
            <p:cNvGrpSpPr/>
            <p:nvPr/>
          </p:nvGrpSpPr>
          <p:grpSpPr>
            <a:xfrm rot="10800000">
              <a:off x="5282495" y="238092"/>
              <a:ext cx="352548" cy="171819"/>
              <a:chOff x="4791775" y="1877500"/>
              <a:chExt cx="66725" cy="36975"/>
            </a:xfrm>
          </p:grpSpPr>
          <p:sp>
            <p:nvSpPr>
              <p:cNvPr id="1004" name="Google Shape;1004;p60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5" name="Google Shape;1005;p60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06" name="Google Shape;1006;p60"/>
            <p:cNvGrpSpPr/>
            <p:nvPr/>
          </p:nvGrpSpPr>
          <p:grpSpPr>
            <a:xfrm>
              <a:off x="3211820" y="4733592"/>
              <a:ext cx="352548" cy="171819"/>
              <a:chOff x="4791775" y="1877500"/>
              <a:chExt cx="66725" cy="36975"/>
            </a:xfrm>
          </p:grpSpPr>
          <p:sp>
            <p:nvSpPr>
              <p:cNvPr id="1007" name="Google Shape;1007;p60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8" name="Google Shape;1008;p60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09" name="Google Shape;1009;p60"/>
            <p:cNvSpPr/>
            <p:nvPr/>
          </p:nvSpPr>
          <p:spPr>
            <a:xfrm rot="-1143789">
              <a:off x="102379" y="156251"/>
              <a:ext cx="574952" cy="497686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60"/>
            <p:cNvSpPr/>
            <p:nvPr/>
          </p:nvSpPr>
          <p:spPr>
            <a:xfrm rot="1242158">
              <a:off x="8495554" y="4508897"/>
              <a:ext cx="574911" cy="497651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1" name="Google Shape;1011;p60"/>
          <p:cNvSpPr txBox="1"/>
          <p:nvPr/>
        </p:nvSpPr>
        <p:spPr>
          <a:xfrm>
            <a:off x="494025" y="1385294"/>
            <a:ext cx="3699300" cy="3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   3. 	</a:t>
            </a: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The 4000–10000 kg range has fewer</a:t>
            </a: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	successful launches, suggesting that</a:t>
            </a: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	massive payloads have a lower</a:t>
            </a: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	</a:t>
            </a: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l</a:t>
            </a: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aunch success rate than low payloads</a:t>
            </a: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b="1" sz="13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  4. 	The FT booster version appears to</a:t>
            </a: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	have the strongest launch success</a:t>
            </a: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	</a:t>
            </a: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p</a:t>
            </a: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attern among the booster types</a:t>
            </a: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	shown</a:t>
            </a: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b="1" sz="13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 5. 	Some booster types such as v1.0 and</a:t>
            </a: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	B5 </a:t>
            </a: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have not been launched with</a:t>
            </a: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	massive payloads</a:t>
            </a:r>
            <a:endParaRPr b="1" sz="13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12" name="Google Shape;1012;p60"/>
          <p:cNvSpPr txBox="1"/>
          <p:nvPr/>
        </p:nvSpPr>
        <p:spPr>
          <a:xfrm>
            <a:off x="494025" y="552271"/>
            <a:ext cx="5433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Payload Mass vs Launch Outcome For</a:t>
            </a:r>
            <a:endParaRPr b="1" sz="2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All Sites</a:t>
            </a:r>
            <a:endParaRPr b="1" sz="2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013" name="Google Shape;1013;p60" title="Slide 47 - 0kg - 9600kg Payload Mass vs Launch Outcome For All Sites Scatter 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8637" y="1714763"/>
            <a:ext cx="4332076" cy="182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4" name="Google Shape;1014;p60" title="Slide 47 - 0kg - 4000kg Payload Mass vs Launch Outcome For All Sites Scatter Plo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8637" y="3604663"/>
            <a:ext cx="2143575" cy="905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5" name="Google Shape;1015;p60" title="Slide 47 - 4000kg -10000kg Payload Mass vs Launch Outcome For All Sites Scatter Plo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27137" y="3604663"/>
            <a:ext cx="2143575" cy="9050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16" name="Google Shape;1016;p60"/>
          <p:cNvCxnSpPr/>
          <p:nvPr/>
        </p:nvCxnSpPr>
        <p:spPr>
          <a:xfrm>
            <a:off x="6460775" y="2321475"/>
            <a:ext cx="0" cy="1075800"/>
          </a:xfrm>
          <a:prstGeom prst="straightConnector1">
            <a:avLst/>
          </a:prstGeom>
          <a:noFill/>
          <a:ln cap="flat" cmpd="sng" w="9525">
            <a:solidFill>
              <a:srgbClr val="FFAB40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1017" name="Google Shape;1017;p60"/>
          <p:cNvSpPr txBox="1"/>
          <p:nvPr/>
        </p:nvSpPr>
        <p:spPr>
          <a:xfrm>
            <a:off x="5146001" y="2730764"/>
            <a:ext cx="130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FFAB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Low payloads</a:t>
            </a:r>
            <a:endParaRPr sz="800">
              <a:solidFill>
                <a:srgbClr val="FFAB4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1018" name="Google Shape;1018;p60"/>
          <p:cNvSpPr txBox="1"/>
          <p:nvPr/>
        </p:nvSpPr>
        <p:spPr>
          <a:xfrm>
            <a:off x="6659565" y="2730832"/>
            <a:ext cx="130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FFAB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Massive </a:t>
            </a:r>
            <a:r>
              <a:rPr lang="en-GB" sz="800">
                <a:solidFill>
                  <a:srgbClr val="FFAB4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payloads</a:t>
            </a:r>
            <a:endParaRPr sz="800">
              <a:solidFill>
                <a:srgbClr val="FFAB4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3" name="Google Shape;1023;p61"/>
          <p:cNvGrpSpPr/>
          <p:nvPr/>
        </p:nvGrpSpPr>
        <p:grpSpPr>
          <a:xfrm>
            <a:off x="36850" y="-264200"/>
            <a:ext cx="9103051" cy="5356294"/>
            <a:chOff x="36850" y="-264200"/>
            <a:chExt cx="9103051" cy="5356294"/>
          </a:xfrm>
        </p:grpSpPr>
        <p:sp>
          <p:nvSpPr>
            <p:cNvPr id="1024" name="Google Shape;1024;p61"/>
            <p:cNvSpPr/>
            <p:nvPr/>
          </p:nvSpPr>
          <p:spPr>
            <a:xfrm rot="1677186">
              <a:off x="7476179" y="71932"/>
              <a:ext cx="1600645" cy="666336"/>
            </a:xfrm>
            <a:prstGeom prst="triangle">
              <a:avLst>
                <a:gd fmla="val 7729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61"/>
            <p:cNvSpPr/>
            <p:nvPr/>
          </p:nvSpPr>
          <p:spPr>
            <a:xfrm flipH="1">
              <a:off x="324000" y="324000"/>
              <a:ext cx="8502600" cy="4495500"/>
            </a:xfrm>
            <a:prstGeom prst="flowChartPunchedCard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26" name="Google Shape;1026;p61"/>
            <p:cNvGrpSpPr/>
            <p:nvPr/>
          </p:nvGrpSpPr>
          <p:grpSpPr>
            <a:xfrm rot="10800000">
              <a:off x="5282495" y="238092"/>
              <a:ext cx="352548" cy="171819"/>
              <a:chOff x="4791775" y="1877500"/>
              <a:chExt cx="66725" cy="36975"/>
            </a:xfrm>
          </p:grpSpPr>
          <p:sp>
            <p:nvSpPr>
              <p:cNvPr id="1027" name="Google Shape;1027;p61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8" name="Google Shape;1028;p61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29" name="Google Shape;1029;p61"/>
            <p:cNvGrpSpPr/>
            <p:nvPr/>
          </p:nvGrpSpPr>
          <p:grpSpPr>
            <a:xfrm>
              <a:off x="3211820" y="4733592"/>
              <a:ext cx="352548" cy="171819"/>
              <a:chOff x="4791775" y="1877500"/>
              <a:chExt cx="66725" cy="36975"/>
            </a:xfrm>
          </p:grpSpPr>
          <p:sp>
            <p:nvSpPr>
              <p:cNvPr id="1030" name="Google Shape;1030;p61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1" name="Google Shape;1031;p61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32" name="Google Shape;1032;p61"/>
            <p:cNvSpPr/>
            <p:nvPr/>
          </p:nvSpPr>
          <p:spPr>
            <a:xfrm rot="-1143789">
              <a:off x="102379" y="156251"/>
              <a:ext cx="574952" cy="497686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61"/>
            <p:cNvSpPr/>
            <p:nvPr/>
          </p:nvSpPr>
          <p:spPr>
            <a:xfrm rot="1242158">
              <a:off x="8495554" y="4508897"/>
              <a:ext cx="574911" cy="497651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4" name="Google Shape;1034;p61"/>
          <p:cNvSpPr txBox="1"/>
          <p:nvPr/>
        </p:nvSpPr>
        <p:spPr>
          <a:xfrm>
            <a:off x="966055" y="1783226"/>
            <a:ext cx="3283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Results</a:t>
            </a:r>
            <a:endParaRPr b="1" sz="28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35" name="Google Shape;1035;p61"/>
          <p:cNvSpPr txBox="1"/>
          <p:nvPr/>
        </p:nvSpPr>
        <p:spPr>
          <a:xfrm>
            <a:off x="867246" y="2490568"/>
            <a:ext cx="710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0</a:t>
            </a:r>
            <a:r>
              <a:rPr b="1" lang="en-GB" sz="24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3</a:t>
            </a:r>
            <a:endParaRPr b="1" sz="24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36" name="Google Shape;1036;p61"/>
          <p:cNvSpPr txBox="1"/>
          <p:nvPr/>
        </p:nvSpPr>
        <p:spPr>
          <a:xfrm>
            <a:off x="1480012" y="2577289"/>
            <a:ext cx="4117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Predictive Analysis - Classification</a:t>
            </a:r>
            <a:endParaRPr b="1" sz="16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1" name="Google Shape;1041;p62"/>
          <p:cNvGrpSpPr/>
          <p:nvPr/>
        </p:nvGrpSpPr>
        <p:grpSpPr>
          <a:xfrm>
            <a:off x="36850" y="-264200"/>
            <a:ext cx="9103051" cy="5356294"/>
            <a:chOff x="36850" y="-264200"/>
            <a:chExt cx="9103051" cy="5356294"/>
          </a:xfrm>
        </p:grpSpPr>
        <p:sp>
          <p:nvSpPr>
            <p:cNvPr id="1042" name="Google Shape;1042;p62"/>
            <p:cNvSpPr/>
            <p:nvPr/>
          </p:nvSpPr>
          <p:spPr>
            <a:xfrm rot="1677186">
              <a:off x="7476179" y="71932"/>
              <a:ext cx="1600645" cy="666336"/>
            </a:xfrm>
            <a:prstGeom prst="triangle">
              <a:avLst>
                <a:gd fmla="val 7729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62"/>
            <p:cNvSpPr/>
            <p:nvPr/>
          </p:nvSpPr>
          <p:spPr>
            <a:xfrm flipH="1">
              <a:off x="324000" y="324000"/>
              <a:ext cx="8502600" cy="4495500"/>
            </a:xfrm>
            <a:prstGeom prst="flowChartPunchedCard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44" name="Google Shape;1044;p62"/>
            <p:cNvGrpSpPr/>
            <p:nvPr/>
          </p:nvGrpSpPr>
          <p:grpSpPr>
            <a:xfrm rot="10800000">
              <a:off x="5282495" y="238092"/>
              <a:ext cx="352548" cy="171819"/>
              <a:chOff x="4791775" y="1877500"/>
              <a:chExt cx="66725" cy="36975"/>
            </a:xfrm>
          </p:grpSpPr>
          <p:sp>
            <p:nvSpPr>
              <p:cNvPr id="1045" name="Google Shape;1045;p62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6" name="Google Shape;1046;p62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47" name="Google Shape;1047;p62"/>
            <p:cNvGrpSpPr/>
            <p:nvPr/>
          </p:nvGrpSpPr>
          <p:grpSpPr>
            <a:xfrm>
              <a:off x="3211820" y="4733592"/>
              <a:ext cx="352548" cy="171819"/>
              <a:chOff x="4791775" y="1877500"/>
              <a:chExt cx="66725" cy="36975"/>
            </a:xfrm>
          </p:grpSpPr>
          <p:sp>
            <p:nvSpPr>
              <p:cNvPr id="1048" name="Google Shape;1048;p62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9" name="Google Shape;1049;p62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50" name="Google Shape;1050;p62"/>
            <p:cNvSpPr/>
            <p:nvPr/>
          </p:nvSpPr>
          <p:spPr>
            <a:xfrm rot="-1143789">
              <a:off x="102379" y="156251"/>
              <a:ext cx="574952" cy="497686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62"/>
            <p:cNvSpPr/>
            <p:nvPr/>
          </p:nvSpPr>
          <p:spPr>
            <a:xfrm rot="1242158">
              <a:off x="8495554" y="4508897"/>
              <a:ext cx="574911" cy="497651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2" name="Google Shape;1052;p62"/>
          <p:cNvSpPr txBox="1"/>
          <p:nvPr/>
        </p:nvSpPr>
        <p:spPr>
          <a:xfrm>
            <a:off x="494025" y="684000"/>
            <a:ext cx="5433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Classification Accuracy</a:t>
            </a:r>
            <a:endParaRPr b="1" sz="2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053" name="Google Shape;1053;p62" title="Slide 50 - Predictive Analysis - Best Classification Performing Model By Accuracy Score Bar Cha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0400" y="1638073"/>
            <a:ext cx="4298401" cy="2323654"/>
          </a:xfrm>
          <a:prstGeom prst="rect">
            <a:avLst/>
          </a:prstGeom>
          <a:noFill/>
          <a:ln>
            <a:noFill/>
          </a:ln>
        </p:spPr>
      </p:pic>
      <p:sp>
        <p:nvSpPr>
          <p:cNvPr id="1054" name="Google Shape;1054;p62"/>
          <p:cNvSpPr txBox="1"/>
          <p:nvPr/>
        </p:nvSpPr>
        <p:spPr>
          <a:xfrm>
            <a:off x="494025" y="1191600"/>
            <a:ext cx="3535200" cy="16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999999"/>
                </a:solidFill>
                <a:latin typeface="Raleway"/>
                <a:ea typeface="Raleway"/>
                <a:cs typeface="Raleway"/>
                <a:sym typeface="Raleway"/>
              </a:rPr>
              <a:t>The bar charts </a:t>
            </a:r>
            <a:r>
              <a:rPr lang="en-GB" sz="1200">
                <a:solidFill>
                  <a:srgbClr val="999999"/>
                </a:solidFill>
                <a:latin typeface="Raleway"/>
                <a:ea typeface="Raleway"/>
                <a:cs typeface="Raleway"/>
                <a:sym typeface="Raleway"/>
              </a:rPr>
              <a:t>compare the Accuracy Score For All Classification Models and show that</a:t>
            </a:r>
            <a:r>
              <a:rPr lang="en-GB" sz="1200">
                <a:solidFill>
                  <a:srgbClr val="999999"/>
                </a:solidFill>
                <a:latin typeface="Raleway"/>
                <a:ea typeface="Raleway"/>
                <a:cs typeface="Raleway"/>
                <a:sym typeface="Raleway"/>
              </a:rPr>
              <a:t>:</a:t>
            </a:r>
            <a:endParaRPr sz="1200">
              <a:solidFill>
                <a:srgbClr val="999999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All Classification Models achieved the same Accuracy Score of 83.33%. </a:t>
            </a:r>
            <a:r>
              <a:rPr b="1" lang="en-GB" sz="13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Therefore, no single model outperforms the other.</a:t>
            </a:r>
            <a:endParaRPr b="1" sz="13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055" name="Google Shape;1055;p62" title="Slide 50 - Predictive Analysis - Classification Models Comparison By Accuracy Score Tabl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4000" y="3009600"/>
            <a:ext cx="3024000" cy="13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0" name="Google Shape;1060;p63"/>
          <p:cNvGrpSpPr/>
          <p:nvPr/>
        </p:nvGrpSpPr>
        <p:grpSpPr>
          <a:xfrm>
            <a:off x="36850" y="-264200"/>
            <a:ext cx="9103051" cy="5356294"/>
            <a:chOff x="36850" y="-264200"/>
            <a:chExt cx="9103051" cy="5356294"/>
          </a:xfrm>
        </p:grpSpPr>
        <p:sp>
          <p:nvSpPr>
            <p:cNvPr id="1061" name="Google Shape;1061;p63"/>
            <p:cNvSpPr/>
            <p:nvPr/>
          </p:nvSpPr>
          <p:spPr>
            <a:xfrm rot="1677186">
              <a:off x="7476179" y="71932"/>
              <a:ext cx="1600645" cy="666336"/>
            </a:xfrm>
            <a:prstGeom prst="triangle">
              <a:avLst>
                <a:gd fmla="val 7729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63"/>
            <p:cNvSpPr/>
            <p:nvPr/>
          </p:nvSpPr>
          <p:spPr>
            <a:xfrm flipH="1">
              <a:off x="324000" y="324000"/>
              <a:ext cx="8502600" cy="4495500"/>
            </a:xfrm>
            <a:prstGeom prst="flowChartPunchedCard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63" name="Google Shape;1063;p63"/>
            <p:cNvGrpSpPr/>
            <p:nvPr/>
          </p:nvGrpSpPr>
          <p:grpSpPr>
            <a:xfrm rot="10800000">
              <a:off x="5282495" y="238092"/>
              <a:ext cx="352548" cy="171819"/>
              <a:chOff x="4791775" y="1877500"/>
              <a:chExt cx="66725" cy="36975"/>
            </a:xfrm>
          </p:grpSpPr>
          <p:sp>
            <p:nvSpPr>
              <p:cNvPr id="1064" name="Google Shape;1064;p63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5" name="Google Shape;1065;p63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66" name="Google Shape;1066;p63"/>
            <p:cNvGrpSpPr/>
            <p:nvPr/>
          </p:nvGrpSpPr>
          <p:grpSpPr>
            <a:xfrm>
              <a:off x="3211820" y="4733592"/>
              <a:ext cx="352548" cy="171819"/>
              <a:chOff x="4791775" y="1877500"/>
              <a:chExt cx="66725" cy="36975"/>
            </a:xfrm>
          </p:grpSpPr>
          <p:sp>
            <p:nvSpPr>
              <p:cNvPr id="1067" name="Google Shape;1067;p63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8" name="Google Shape;1068;p63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69" name="Google Shape;1069;p63"/>
            <p:cNvSpPr/>
            <p:nvPr/>
          </p:nvSpPr>
          <p:spPr>
            <a:xfrm rot="-1143789">
              <a:off x="102379" y="156251"/>
              <a:ext cx="574952" cy="497686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63"/>
            <p:cNvSpPr/>
            <p:nvPr/>
          </p:nvSpPr>
          <p:spPr>
            <a:xfrm rot="1242158">
              <a:off x="8495554" y="4508897"/>
              <a:ext cx="574911" cy="497651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1" name="Google Shape;1071;p63"/>
          <p:cNvSpPr txBox="1"/>
          <p:nvPr/>
        </p:nvSpPr>
        <p:spPr>
          <a:xfrm>
            <a:off x="494025" y="552274"/>
            <a:ext cx="5433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Confusion Matrix</a:t>
            </a:r>
            <a:endParaRPr b="1" sz="2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72" name="Google Shape;1072;p63"/>
          <p:cNvSpPr txBox="1"/>
          <p:nvPr/>
        </p:nvSpPr>
        <p:spPr>
          <a:xfrm>
            <a:off x="494025" y="1059871"/>
            <a:ext cx="3984600" cy="3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As shown in the previous slide, all Classification Models achieved the same accuracy, so there is no single best-performing model.</a:t>
            </a: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-GB" sz="13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Their confusion matrices also produced the same results:</a:t>
            </a:r>
            <a:endParaRPr sz="13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aleway"/>
              <a:buChar char="●"/>
            </a:pPr>
            <a:r>
              <a:rPr lang="en-GB" sz="13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15 out of 18 test cases were classified correctly: 12 successful landings (True Positives) and 3 unsuccessful landings (True Negatives).</a:t>
            </a:r>
            <a:br>
              <a:rPr lang="en-GB" sz="13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sz="13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aleway"/>
              <a:buChar char="●"/>
            </a:pPr>
            <a:r>
              <a:rPr lang="en-GB" sz="13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3 cases were misclassified as successful landings (False Positives), while no successful landings were incorrectly predicted as unsuccessful (False Negatives)</a:t>
            </a:r>
            <a:endParaRPr sz="13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1073" name="Google Shape;1073;p63"/>
          <p:cNvGrpSpPr/>
          <p:nvPr/>
        </p:nvGrpSpPr>
        <p:grpSpPr>
          <a:xfrm>
            <a:off x="4726553" y="1059882"/>
            <a:ext cx="3905695" cy="3543528"/>
            <a:chOff x="4132744" y="993024"/>
            <a:chExt cx="3838899" cy="3482925"/>
          </a:xfrm>
        </p:grpSpPr>
        <p:grpSp>
          <p:nvGrpSpPr>
            <p:cNvPr id="1074" name="Google Shape;1074;p63"/>
            <p:cNvGrpSpPr/>
            <p:nvPr/>
          </p:nvGrpSpPr>
          <p:grpSpPr>
            <a:xfrm>
              <a:off x="4132744" y="993024"/>
              <a:ext cx="2082600" cy="1744120"/>
              <a:chOff x="4132744" y="993024"/>
              <a:chExt cx="2082600" cy="1744120"/>
            </a:xfrm>
          </p:grpSpPr>
          <p:sp>
            <p:nvSpPr>
              <p:cNvPr id="1075" name="Google Shape;1075;p63"/>
              <p:cNvSpPr txBox="1"/>
              <p:nvPr/>
            </p:nvSpPr>
            <p:spPr>
              <a:xfrm>
                <a:off x="4132744" y="993024"/>
                <a:ext cx="2082600" cy="30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3875" lIns="83875" spcFirstLastPara="1" rIns="83875" wrap="square" tIns="838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916">
                    <a:solidFill>
                      <a:schemeClr val="lt1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Logistic Regression</a:t>
                </a:r>
                <a:endParaRPr sz="916">
                  <a:solidFill>
                    <a:schemeClr val="lt1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pic>
            <p:nvPicPr>
              <p:cNvPr id="1076" name="Google Shape;1076;p63" title="Slide 51 - Predictive Analysis (Classification) - Logistic Regression Confusion Matrix.png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223774" y="1297145"/>
                <a:ext cx="1674000" cy="143999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77" name="Google Shape;1077;p63"/>
            <p:cNvGrpSpPr/>
            <p:nvPr/>
          </p:nvGrpSpPr>
          <p:grpSpPr>
            <a:xfrm>
              <a:off x="5889040" y="993024"/>
              <a:ext cx="2082600" cy="1744994"/>
              <a:chOff x="6251290" y="993024"/>
              <a:chExt cx="2082600" cy="1744994"/>
            </a:xfrm>
          </p:grpSpPr>
          <p:sp>
            <p:nvSpPr>
              <p:cNvPr id="1078" name="Google Shape;1078;p63"/>
              <p:cNvSpPr txBox="1"/>
              <p:nvPr/>
            </p:nvSpPr>
            <p:spPr>
              <a:xfrm>
                <a:off x="6251290" y="993024"/>
                <a:ext cx="2082600" cy="30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3875" lIns="83875" spcFirstLastPara="1" rIns="83875" wrap="square" tIns="838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916">
                    <a:solidFill>
                      <a:schemeClr val="lt1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Support Vector Machine (SVM)</a:t>
                </a:r>
                <a:endParaRPr sz="916">
                  <a:solidFill>
                    <a:schemeClr val="lt1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pic>
            <p:nvPicPr>
              <p:cNvPr id="1079" name="Google Shape;1079;p63" title="Slide 51 - Predictive Analysis (Classification) - Support Vector Machine Confusion Matrix.png"/>
              <p:cNvPicPr preferRelativeResize="0"/>
              <p:nvPr/>
            </p:nvPicPr>
            <p:blipFill rotWithShape="1">
              <a:blip r:embed="rId4">
                <a:alphaModFix/>
              </a:blip>
              <a:srcRect b="0" l="20" r="20" t="0"/>
              <a:stretch/>
            </p:blipFill>
            <p:spPr>
              <a:xfrm>
                <a:off x="6346261" y="1296271"/>
                <a:ext cx="1674879" cy="144174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80" name="Google Shape;1080;p63"/>
            <p:cNvGrpSpPr/>
            <p:nvPr/>
          </p:nvGrpSpPr>
          <p:grpSpPr>
            <a:xfrm>
              <a:off x="4132744" y="2745402"/>
              <a:ext cx="2082600" cy="1730547"/>
              <a:chOff x="4132744" y="3396018"/>
              <a:chExt cx="2082600" cy="1730547"/>
            </a:xfrm>
          </p:grpSpPr>
          <p:sp>
            <p:nvSpPr>
              <p:cNvPr id="1081" name="Google Shape;1081;p63"/>
              <p:cNvSpPr txBox="1"/>
              <p:nvPr/>
            </p:nvSpPr>
            <p:spPr>
              <a:xfrm>
                <a:off x="4132744" y="3396018"/>
                <a:ext cx="2082600" cy="30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3875" lIns="83875" spcFirstLastPara="1" rIns="83875" wrap="square" tIns="838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916">
                    <a:solidFill>
                      <a:schemeClr val="lt1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Decision Tree</a:t>
                </a:r>
                <a:endParaRPr sz="916">
                  <a:solidFill>
                    <a:schemeClr val="lt1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pic>
            <p:nvPicPr>
              <p:cNvPr id="1082" name="Google Shape;1082;p63" title="Slide 51 - Predictive Analysis (Classification) - Decision Tree Confusion Matrix.png"/>
              <p:cNvPicPr preferRelativeResize="0"/>
              <p:nvPr/>
            </p:nvPicPr>
            <p:blipFill rotWithShape="1">
              <a:blip r:embed="rId5">
                <a:alphaModFix/>
              </a:blip>
              <a:srcRect b="475" l="0" r="0" t="475"/>
              <a:stretch/>
            </p:blipFill>
            <p:spPr>
              <a:xfrm>
                <a:off x="4234751" y="3686565"/>
                <a:ext cx="1674880" cy="1440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83" name="Google Shape;1083;p63"/>
            <p:cNvGrpSpPr/>
            <p:nvPr/>
          </p:nvGrpSpPr>
          <p:grpSpPr>
            <a:xfrm>
              <a:off x="5889043" y="2743909"/>
              <a:ext cx="2082600" cy="1730547"/>
              <a:chOff x="6251290" y="3396018"/>
              <a:chExt cx="2082600" cy="1730547"/>
            </a:xfrm>
          </p:grpSpPr>
          <p:sp>
            <p:nvSpPr>
              <p:cNvPr id="1084" name="Google Shape;1084;p63"/>
              <p:cNvSpPr txBox="1"/>
              <p:nvPr/>
            </p:nvSpPr>
            <p:spPr>
              <a:xfrm>
                <a:off x="6251290" y="3396018"/>
                <a:ext cx="2082600" cy="30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3875" lIns="83875" spcFirstLastPara="1" rIns="83875" wrap="square" tIns="838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916">
                    <a:solidFill>
                      <a:schemeClr val="lt1"/>
                    </a:solidFill>
                    <a:latin typeface="Raleway"/>
                    <a:ea typeface="Raleway"/>
                    <a:cs typeface="Raleway"/>
                    <a:sym typeface="Raleway"/>
                  </a:rPr>
                  <a:t>K-Nearest Neighbor (KNN)</a:t>
                </a:r>
                <a:endParaRPr sz="916">
                  <a:solidFill>
                    <a:schemeClr val="lt1"/>
                  </a:solidFill>
                  <a:latin typeface="Raleway"/>
                  <a:ea typeface="Raleway"/>
                  <a:cs typeface="Raleway"/>
                  <a:sym typeface="Raleway"/>
                </a:endParaRPr>
              </a:p>
            </p:txBody>
          </p:sp>
          <p:pic>
            <p:nvPicPr>
              <p:cNvPr id="1085" name="Google Shape;1085;p63" title="Slide 51 - Predictive Analysis (Classification) - KNN Confusion Matrix.png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6343676" y="3686565"/>
                <a:ext cx="1674000" cy="1440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0" name="Google Shape;1090;p64"/>
          <p:cNvGrpSpPr/>
          <p:nvPr/>
        </p:nvGrpSpPr>
        <p:grpSpPr>
          <a:xfrm>
            <a:off x="36850" y="-264200"/>
            <a:ext cx="9103051" cy="5356294"/>
            <a:chOff x="36850" y="-264200"/>
            <a:chExt cx="9103051" cy="5356294"/>
          </a:xfrm>
        </p:grpSpPr>
        <p:sp>
          <p:nvSpPr>
            <p:cNvPr id="1091" name="Google Shape;1091;p64"/>
            <p:cNvSpPr/>
            <p:nvPr/>
          </p:nvSpPr>
          <p:spPr>
            <a:xfrm rot="1677186">
              <a:off x="7476179" y="71932"/>
              <a:ext cx="1600645" cy="666336"/>
            </a:xfrm>
            <a:prstGeom prst="triangle">
              <a:avLst>
                <a:gd fmla="val 7729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64"/>
            <p:cNvSpPr/>
            <p:nvPr/>
          </p:nvSpPr>
          <p:spPr>
            <a:xfrm flipH="1">
              <a:off x="324000" y="324000"/>
              <a:ext cx="8502600" cy="4495500"/>
            </a:xfrm>
            <a:prstGeom prst="flowChartPunchedCard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93" name="Google Shape;1093;p64"/>
            <p:cNvGrpSpPr/>
            <p:nvPr/>
          </p:nvGrpSpPr>
          <p:grpSpPr>
            <a:xfrm rot="10800000">
              <a:off x="5282495" y="238092"/>
              <a:ext cx="352548" cy="171819"/>
              <a:chOff x="4791775" y="1877500"/>
              <a:chExt cx="66725" cy="36975"/>
            </a:xfrm>
          </p:grpSpPr>
          <p:sp>
            <p:nvSpPr>
              <p:cNvPr id="1094" name="Google Shape;1094;p64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5" name="Google Shape;1095;p64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96" name="Google Shape;1096;p64"/>
            <p:cNvGrpSpPr/>
            <p:nvPr/>
          </p:nvGrpSpPr>
          <p:grpSpPr>
            <a:xfrm>
              <a:off x="3211820" y="4733592"/>
              <a:ext cx="352548" cy="171819"/>
              <a:chOff x="4791775" y="1877500"/>
              <a:chExt cx="66725" cy="36975"/>
            </a:xfrm>
          </p:grpSpPr>
          <p:sp>
            <p:nvSpPr>
              <p:cNvPr id="1097" name="Google Shape;1097;p64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8" name="Google Shape;1098;p64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99" name="Google Shape;1099;p64"/>
            <p:cNvSpPr/>
            <p:nvPr/>
          </p:nvSpPr>
          <p:spPr>
            <a:xfrm rot="-1143789">
              <a:off x="102379" y="156251"/>
              <a:ext cx="574952" cy="497686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64"/>
            <p:cNvSpPr/>
            <p:nvPr/>
          </p:nvSpPr>
          <p:spPr>
            <a:xfrm rot="1242158">
              <a:off x="8495554" y="4508897"/>
              <a:ext cx="574911" cy="497651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1" name="Google Shape;1101;p64"/>
          <p:cNvSpPr txBox="1"/>
          <p:nvPr/>
        </p:nvSpPr>
        <p:spPr>
          <a:xfrm>
            <a:off x="494025" y="563251"/>
            <a:ext cx="5433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Conclusions</a:t>
            </a:r>
            <a:endParaRPr b="1" sz="2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02" name="Google Shape;1102;p64"/>
          <p:cNvSpPr txBox="1"/>
          <p:nvPr/>
        </p:nvSpPr>
        <p:spPr>
          <a:xfrm>
            <a:off x="494025" y="1070850"/>
            <a:ext cx="4676100" cy="36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AB40"/>
              </a:buClr>
              <a:buSzPts val="1300"/>
              <a:buFont typeface="Raleway"/>
              <a:buChar char="●"/>
            </a:pP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Falcon 9 landing performance improved over time: higher flight numbers and later years show more successful landings, with success increasing</a:t>
            </a: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after 2013 and most years after 2016 above 50%.</a:t>
            </a: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b="1" sz="13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1300"/>
              <a:buFont typeface="Raleway"/>
              <a:buChar char="●"/>
            </a:pP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Orbit type appears to be an important factor in landing outcomes. ES-L1, GEO, HEO, and SSO</a:t>
            </a: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show the highest success rates at 100%, while</a:t>
            </a: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SO shows the lowest success rate at 0%.</a:t>
            </a: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b="1" sz="13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1300"/>
              <a:buFont typeface="Raleway"/>
              <a:buChar char="●"/>
            </a:pP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Launch site performance differs across sites. KSC LC-39A had the largest share of successful launches, accounting for 41.7% of total successful launches, and also had the highest success ratio</a:t>
            </a: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at 76.9%.</a:t>
            </a:r>
            <a:endParaRPr b="1" sz="13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1103" name="Google Shape;1103;p64"/>
          <p:cNvGrpSpPr/>
          <p:nvPr/>
        </p:nvGrpSpPr>
        <p:grpSpPr>
          <a:xfrm>
            <a:off x="5284306" y="1373503"/>
            <a:ext cx="3390685" cy="3000994"/>
            <a:chOff x="5284306" y="1337004"/>
            <a:chExt cx="3390685" cy="3000994"/>
          </a:xfrm>
        </p:grpSpPr>
        <p:pic>
          <p:nvPicPr>
            <p:cNvPr id="1104" name="Google Shape;1104;p6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419027" y="1337004"/>
              <a:ext cx="1535061" cy="11691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5" name="Google Shape;1105;p64" title="Slide 22 - Success Rate vs Orbit Type Scatter Chart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005202" y="1348589"/>
              <a:ext cx="1535061" cy="11459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6" name="Google Shape;1106;p64" title="Slide 45 - Total Success Launches For All Sites Pie Chart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284306" y="2561455"/>
              <a:ext cx="1669801" cy="9016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7" name="Google Shape;1107;p64" title="Slide 50 - Predictive Analysis - Best Classification Performing Model By Accuracy Score Bar Chart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005189" y="2560975"/>
              <a:ext cx="1669802" cy="9026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8" name="Google Shape;1108;p64" title="Slide 47 - 0kg - 9600kg Payload Mass vs Launch Outcome For All Sites Scatter Plot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025497" y="3525565"/>
              <a:ext cx="1938078" cy="81243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3" name="Google Shape;1113;p65"/>
          <p:cNvGrpSpPr/>
          <p:nvPr/>
        </p:nvGrpSpPr>
        <p:grpSpPr>
          <a:xfrm>
            <a:off x="36850" y="-264200"/>
            <a:ext cx="9103051" cy="5356294"/>
            <a:chOff x="36850" y="-264200"/>
            <a:chExt cx="9103051" cy="5356294"/>
          </a:xfrm>
        </p:grpSpPr>
        <p:sp>
          <p:nvSpPr>
            <p:cNvPr id="1114" name="Google Shape;1114;p65"/>
            <p:cNvSpPr/>
            <p:nvPr/>
          </p:nvSpPr>
          <p:spPr>
            <a:xfrm rot="1677186">
              <a:off x="7476179" y="71932"/>
              <a:ext cx="1600645" cy="666336"/>
            </a:xfrm>
            <a:prstGeom prst="triangle">
              <a:avLst>
                <a:gd fmla="val 7729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65"/>
            <p:cNvSpPr/>
            <p:nvPr/>
          </p:nvSpPr>
          <p:spPr>
            <a:xfrm flipH="1">
              <a:off x="324000" y="324000"/>
              <a:ext cx="8502600" cy="4495500"/>
            </a:xfrm>
            <a:prstGeom prst="flowChartPunchedCard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16" name="Google Shape;1116;p65"/>
            <p:cNvGrpSpPr/>
            <p:nvPr/>
          </p:nvGrpSpPr>
          <p:grpSpPr>
            <a:xfrm rot="10800000">
              <a:off x="5282495" y="238092"/>
              <a:ext cx="352548" cy="171819"/>
              <a:chOff x="4791775" y="1877500"/>
              <a:chExt cx="66725" cy="36975"/>
            </a:xfrm>
          </p:grpSpPr>
          <p:sp>
            <p:nvSpPr>
              <p:cNvPr id="1117" name="Google Shape;1117;p65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8" name="Google Shape;1118;p65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19" name="Google Shape;1119;p65"/>
            <p:cNvGrpSpPr/>
            <p:nvPr/>
          </p:nvGrpSpPr>
          <p:grpSpPr>
            <a:xfrm>
              <a:off x="3211820" y="4733592"/>
              <a:ext cx="352548" cy="171819"/>
              <a:chOff x="4791775" y="1877500"/>
              <a:chExt cx="66725" cy="36975"/>
            </a:xfrm>
          </p:grpSpPr>
          <p:sp>
            <p:nvSpPr>
              <p:cNvPr id="1120" name="Google Shape;1120;p65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1" name="Google Shape;1121;p65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22" name="Google Shape;1122;p65"/>
            <p:cNvSpPr/>
            <p:nvPr/>
          </p:nvSpPr>
          <p:spPr>
            <a:xfrm rot="-1143789">
              <a:off x="102379" y="156251"/>
              <a:ext cx="574952" cy="497686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65"/>
            <p:cNvSpPr/>
            <p:nvPr/>
          </p:nvSpPr>
          <p:spPr>
            <a:xfrm rot="1242158">
              <a:off x="8495554" y="4508897"/>
              <a:ext cx="574911" cy="497651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4" name="Google Shape;1124;p65"/>
          <p:cNvSpPr txBox="1"/>
          <p:nvPr/>
        </p:nvSpPr>
        <p:spPr>
          <a:xfrm>
            <a:off x="494025" y="563251"/>
            <a:ext cx="5433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Conclusions</a:t>
            </a:r>
            <a:endParaRPr b="1" sz="2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25" name="Google Shape;1125;p65"/>
          <p:cNvSpPr txBox="1"/>
          <p:nvPr/>
        </p:nvSpPr>
        <p:spPr>
          <a:xfrm>
            <a:off x="494025" y="1070850"/>
            <a:ext cx="4676100" cy="26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AB40"/>
              </a:buClr>
              <a:buSzPts val="1300"/>
              <a:buFont typeface="Raleway"/>
              <a:buChar char="●"/>
            </a:pP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Payload mass alone does not show a clear relationship with landing outcomes. However, dashboard results suggest that low payloads, especially the 3000–4000 kg range, show a stronger success pattern than massive payloads.</a:t>
            </a:r>
            <a:b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b="1" sz="13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AB40"/>
              </a:buClr>
              <a:buSzPts val="1300"/>
              <a:buFont typeface="Raleway"/>
              <a:buChar char="●"/>
            </a:pPr>
            <a:r>
              <a:rPr b="1" lang="en-GB" sz="1300">
                <a:solidFill>
                  <a:srgbClr val="FFAB40"/>
                </a:solidFill>
                <a:latin typeface="Raleway"/>
                <a:ea typeface="Raleway"/>
                <a:cs typeface="Raleway"/>
                <a:sym typeface="Raleway"/>
              </a:rPr>
              <a:t>All four classification models: Logistic Regression, Support Vector Machine (SVM), Decision Tree, and K-Nearest Neighbor (KNN) achieved the same accuracy score of 83.33%, so no single model outperformed the others.</a:t>
            </a:r>
            <a:endParaRPr b="1" sz="1300">
              <a:solidFill>
                <a:srgbClr val="FFAB4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1126" name="Google Shape;1126;p65"/>
          <p:cNvGrpSpPr/>
          <p:nvPr/>
        </p:nvGrpSpPr>
        <p:grpSpPr>
          <a:xfrm>
            <a:off x="5284306" y="1263397"/>
            <a:ext cx="3390685" cy="3000994"/>
            <a:chOff x="5284306" y="1337004"/>
            <a:chExt cx="3390685" cy="3000994"/>
          </a:xfrm>
        </p:grpSpPr>
        <p:pic>
          <p:nvPicPr>
            <p:cNvPr id="1127" name="Google Shape;1127;p6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419027" y="1337004"/>
              <a:ext cx="1535061" cy="11691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8" name="Google Shape;1128;p65" title="Slide 22 - Success Rate vs Orbit Type Scatter Chart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005202" y="1348589"/>
              <a:ext cx="1535061" cy="11459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9" name="Google Shape;1129;p65" title="Slide 45 - Total Success Launches For All Sites Pie Chart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284306" y="2561455"/>
              <a:ext cx="1669801" cy="9016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0" name="Google Shape;1130;p65" title="Slide 50 - Predictive Analysis - Best Classification Performing Model By Accuracy Score Bar Chart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005189" y="2560975"/>
              <a:ext cx="1669802" cy="9026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1" name="Google Shape;1131;p65" title="Slide 47 - 0kg - 9600kg Payload Mass vs Launch Outcome For All Sites Scatter Plot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025497" y="3525565"/>
              <a:ext cx="1938078" cy="81243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6" name="Google Shape;1136;p66"/>
          <p:cNvGrpSpPr/>
          <p:nvPr/>
        </p:nvGrpSpPr>
        <p:grpSpPr>
          <a:xfrm>
            <a:off x="36850" y="-264200"/>
            <a:ext cx="9103051" cy="5356294"/>
            <a:chOff x="36850" y="-264200"/>
            <a:chExt cx="9103051" cy="5356294"/>
          </a:xfrm>
        </p:grpSpPr>
        <p:sp>
          <p:nvSpPr>
            <p:cNvPr id="1137" name="Google Shape;1137;p66"/>
            <p:cNvSpPr/>
            <p:nvPr/>
          </p:nvSpPr>
          <p:spPr>
            <a:xfrm rot="1677186">
              <a:off x="7476179" y="71932"/>
              <a:ext cx="1600645" cy="666336"/>
            </a:xfrm>
            <a:prstGeom prst="triangle">
              <a:avLst>
                <a:gd fmla="val 7729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66"/>
            <p:cNvSpPr/>
            <p:nvPr/>
          </p:nvSpPr>
          <p:spPr>
            <a:xfrm flipH="1">
              <a:off x="324000" y="324000"/>
              <a:ext cx="8502600" cy="4495500"/>
            </a:xfrm>
            <a:prstGeom prst="flowChartPunchedCard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39" name="Google Shape;1139;p66"/>
            <p:cNvGrpSpPr/>
            <p:nvPr/>
          </p:nvGrpSpPr>
          <p:grpSpPr>
            <a:xfrm rot="10800000">
              <a:off x="5282495" y="238092"/>
              <a:ext cx="352548" cy="171819"/>
              <a:chOff x="4791775" y="1877500"/>
              <a:chExt cx="66725" cy="36975"/>
            </a:xfrm>
          </p:grpSpPr>
          <p:sp>
            <p:nvSpPr>
              <p:cNvPr id="1140" name="Google Shape;1140;p66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1" name="Google Shape;1141;p66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42" name="Google Shape;1142;p66"/>
            <p:cNvGrpSpPr/>
            <p:nvPr/>
          </p:nvGrpSpPr>
          <p:grpSpPr>
            <a:xfrm>
              <a:off x="3211820" y="4733592"/>
              <a:ext cx="352548" cy="171819"/>
              <a:chOff x="4791775" y="1877500"/>
              <a:chExt cx="66725" cy="36975"/>
            </a:xfrm>
          </p:grpSpPr>
          <p:sp>
            <p:nvSpPr>
              <p:cNvPr id="1143" name="Google Shape;1143;p66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4" name="Google Shape;1144;p66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45" name="Google Shape;1145;p66"/>
            <p:cNvSpPr/>
            <p:nvPr/>
          </p:nvSpPr>
          <p:spPr>
            <a:xfrm rot="-1143789">
              <a:off x="102379" y="156251"/>
              <a:ext cx="574952" cy="497686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66"/>
            <p:cNvSpPr/>
            <p:nvPr/>
          </p:nvSpPr>
          <p:spPr>
            <a:xfrm rot="1242158">
              <a:off x="8495554" y="4508897"/>
              <a:ext cx="574911" cy="497651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47" name="Google Shape;1147;p66"/>
          <p:cNvSpPr txBox="1"/>
          <p:nvPr/>
        </p:nvSpPr>
        <p:spPr>
          <a:xfrm>
            <a:off x="494023" y="684000"/>
            <a:ext cx="5065200" cy="5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Appendix</a:t>
            </a:r>
            <a:endParaRPr b="1" sz="21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48" name="Google Shape;1148;p66"/>
          <p:cNvSpPr txBox="1"/>
          <p:nvPr/>
        </p:nvSpPr>
        <p:spPr>
          <a:xfrm>
            <a:off x="494025" y="1332000"/>
            <a:ext cx="7418400" cy="3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Raleway"/>
              <a:buChar char="●"/>
            </a:pPr>
            <a:r>
              <a:rPr b="1" lang="en-GB" sz="1300" u="sng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 7 Data Collection - SpaceX REST API Flowchart</a:t>
            </a:r>
            <a:br>
              <a:rPr b="1" lang="en-GB" sz="13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b="1" sz="13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Raleway"/>
              <a:buChar char="●"/>
            </a:pPr>
            <a:r>
              <a:rPr b="1" lang="en-GB" sz="1300" u="sng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 8 Data Collection - Web Scraping Flowchart</a:t>
            </a:r>
            <a:br>
              <a:rPr b="1" lang="en-GB" sz="13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b="1" sz="13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Raleway"/>
              <a:buChar char="●"/>
            </a:pPr>
            <a:r>
              <a:rPr b="1" lang="en-GB" sz="1300" u="sng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 9 Data Wrangling Flowchart</a:t>
            </a:r>
            <a:br>
              <a:rPr b="1" lang="en-GB" sz="13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b="1" sz="13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Raleway"/>
              <a:buChar char="●"/>
            </a:pPr>
            <a:r>
              <a:rPr b="1" lang="en-GB" sz="1300" u="sng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 15 Predictive Analysis - Classification Flowchart</a:t>
            </a:r>
            <a:br>
              <a:rPr b="1" lang="en-GB" sz="13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b="1" sz="13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Raleway"/>
              <a:buChar char="●"/>
            </a:pPr>
            <a:r>
              <a:rPr b="1" lang="en-GB" sz="1300" u="sng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This Capstone’s GitHub Repository</a:t>
            </a:r>
            <a:endParaRPr b="1" sz="13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3" name="Google Shape;1153;p67"/>
          <p:cNvGrpSpPr/>
          <p:nvPr/>
        </p:nvGrpSpPr>
        <p:grpSpPr>
          <a:xfrm>
            <a:off x="36850" y="-264200"/>
            <a:ext cx="9103051" cy="5356294"/>
            <a:chOff x="36850" y="-264200"/>
            <a:chExt cx="9103051" cy="5356294"/>
          </a:xfrm>
        </p:grpSpPr>
        <p:sp>
          <p:nvSpPr>
            <p:cNvPr id="1154" name="Google Shape;1154;p67"/>
            <p:cNvSpPr/>
            <p:nvPr/>
          </p:nvSpPr>
          <p:spPr>
            <a:xfrm rot="1677186">
              <a:off x="7476179" y="71932"/>
              <a:ext cx="1600645" cy="666336"/>
            </a:xfrm>
            <a:prstGeom prst="triangle">
              <a:avLst>
                <a:gd fmla="val 7729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67"/>
            <p:cNvSpPr/>
            <p:nvPr/>
          </p:nvSpPr>
          <p:spPr>
            <a:xfrm flipH="1">
              <a:off x="324000" y="324000"/>
              <a:ext cx="8502600" cy="4495500"/>
            </a:xfrm>
            <a:prstGeom prst="flowChartPunchedCard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56" name="Google Shape;1156;p67"/>
            <p:cNvGrpSpPr/>
            <p:nvPr/>
          </p:nvGrpSpPr>
          <p:grpSpPr>
            <a:xfrm rot="10800000">
              <a:off x="5282495" y="238092"/>
              <a:ext cx="352548" cy="171819"/>
              <a:chOff x="4791775" y="1877500"/>
              <a:chExt cx="66725" cy="36975"/>
            </a:xfrm>
          </p:grpSpPr>
          <p:sp>
            <p:nvSpPr>
              <p:cNvPr id="1157" name="Google Shape;1157;p67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8" name="Google Shape;1158;p67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59" name="Google Shape;1159;p67"/>
            <p:cNvGrpSpPr/>
            <p:nvPr/>
          </p:nvGrpSpPr>
          <p:grpSpPr>
            <a:xfrm>
              <a:off x="3211820" y="4733592"/>
              <a:ext cx="352548" cy="171819"/>
              <a:chOff x="4791775" y="1877500"/>
              <a:chExt cx="66725" cy="36975"/>
            </a:xfrm>
          </p:grpSpPr>
          <p:sp>
            <p:nvSpPr>
              <p:cNvPr id="1160" name="Google Shape;1160;p67"/>
              <p:cNvSpPr/>
              <p:nvPr/>
            </p:nvSpPr>
            <p:spPr>
              <a:xfrm>
                <a:off x="479177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2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1" name="Google Shape;1161;p67"/>
              <p:cNvSpPr/>
              <p:nvPr/>
            </p:nvSpPr>
            <p:spPr>
              <a:xfrm>
                <a:off x="4822425" y="1877500"/>
                <a:ext cx="36075" cy="36975"/>
              </a:xfrm>
              <a:custGeom>
                <a:rect b="b" l="l" r="r" t="t"/>
                <a:pathLst>
                  <a:path extrusionOk="0" h="1479" w="1443">
                    <a:moveTo>
                      <a:pt x="0" y="0"/>
                    </a:moveTo>
                    <a:lnTo>
                      <a:pt x="743" y="736"/>
                    </a:lnTo>
                    <a:lnTo>
                      <a:pt x="0" y="1479"/>
                    </a:lnTo>
                    <a:lnTo>
                      <a:pt x="700" y="1479"/>
                    </a:lnTo>
                    <a:lnTo>
                      <a:pt x="1443" y="736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62" name="Google Shape;1162;p67"/>
            <p:cNvSpPr/>
            <p:nvPr/>
          </p:nvSpPr>
          <p:spPr>
            <a:xfrm rot="-1143789">
              <a:off x="102379" y="156251"/>
              <a:ext cx="574952" cy="497686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67"/>
            <p:cNvSpPr/>
            <p:nvPr/>
          </p:nvSpPr>
          <p:spPr>
            <a:xfrm rot="1242158">
              <a:off x="8495554" y="4508897"/>
              <a:ext cx="574911" cy="497651"/>
            </a:xfrm>
            <a:custGeom>
              <a:rect b="b" l="l" r="r" t="t"/>
              <a:pathLst>
                <a:path extrusionOk="0" h="50027" w="57780">
                  <a:moveTo>
                    <a:pt x="14452" y="0"/>
                  </a:moveTo>
                  <a:lnTo>
                    <a:pt x="0" y="25013"/>
                  </a:lnTo>
                  <a:lnTo>
                    <a:pt x="14452" y="50027"/>
                  </a:lnTo>
                  <a:lnTo>
                    <a:pt x="43328" y="50027"/>
                  </a:lnTo>
                  <a:lnTo>
                    <a:pt x="57780" y="25013"/>
                  </a:lnTo>
                  <a:lnTo>
                    <a:pt x="433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64" name="Google Shape;1164;p67"/>
          <p:cNvSpPr txBox="1"/>
          <p:nvPr/>
        </p:nvSpPr>
        <p:spPr>
          <a:xfrm>
            <a:off x="2129426" y="2075397"/>
            <a:ext cx="491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Thank You!</a:t>
            </a:r>
            <a:endParaRPr b="1" sz="32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